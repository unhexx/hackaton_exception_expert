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369" r:id="rId13"/>
    <p:sldId id="372" r:id="rId14"/>
    <p:sldId id="373" r:id="rId15"/>
    <p:sldId id="370" r:id="rId16"/>
    <p:sldId id="371" r:id="rId17"/>
    <p:sldId id="374" r:id="rId18"/>
    <p:sldId id="260" r:id="rId19"/>
    <p:sldId id="261" r:id="rId20"/>
    <p:sldId id="262" r:id="rId21"/>
    <p:sldId id="263" r:id="rId22"/>
    <p:sldId id="266" r:id="rId23"/>
    <p:sldId id="267" r:id="rId26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3" autoAdjust="0"/>
    <p:restoredTop sz="95857"/>
  </p:normalViewPr>
  <p:slideViewPr>
    <p:cSldViewPr snapToGrid="0" showGuides="1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42" Type="http://schemas.openxmlformats.org/officeDocument/2006/relationships/viewProps" Target="viewProps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40" Type="http://schemas.openxmlformats.org/officeDocument/2006/relationships/handoutMaster" Target="handoutMasters/handoutMaster1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tableStyles" Target="tableStyles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12" Type="http://schemas.openxmlformats.org/officeDocument/2006/relationships/slide" Target="slides/slide11.xml"/><Relationship Id="rId17" Type="http://schemas.openxmlformats.org/officeDocument/2006/relationships/slide" Target="slides/slide16.xml"/></Relationships>
</file>

<file path=ppt/charts/_rels/chart1.xml.rels><?xml version="1.0" encoding="UTF-8"?>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?><Relationships xmlns="http://schemas.openxmlformats.org/package/2006/relationships"><Relationship Id="rId3" Type="http://schemas.openxmlformats.org/officeDocument/2006/relationships/package" Target="../embeddings/____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8300241682354E-2"/>
          <c:y val="0.12693525390367644"/>
          <c:w val="0.92608602339057544"/>
          <c:h val="0.667471422716611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2"/>
            </a:solidFill>
            <a:ln w="63500"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86-41F6-8A85-7879D9C60F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3.0340673321854045E-2"/>
          <c:y val="0.93820074285734689"/>
          <c:w val="0.94740055839426573"/>
          <c:h val="6.17992571426531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261129492993"/>
          <c:y val="0.12693525390367644"/>
          <c:w val="0.86424170750053264"/>
          <c:h val="0.6674714227166116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2C0-E743-BC6B-AB142BB8326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5E-4C45-8CA2-C1161199794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5E-4C45-8CA2-C1161199794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5E-4C45-8CA2-C11611997942}"/>
              </c:ext>
            </c:extLst>
          </c:dPt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79207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02.10.2026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02.10.2026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02.10.2026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02.10.2026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 xml:space="preserve"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3" Type="http://schemas.openxmlformats.org/officeDocument/2006/relationships/image" Target="../media/shot_logo-fsp.png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3" Type="http://schemas.openxmlformats.org/officeDocument/2006/relationships/image" Target="../media/shot_01-register.png"/><Relationship Id="rId4" Type="http://schemas.openxmlformats.org/officeDocument/2006/relationships/image" Target="../media/shot_02-confirm-code.png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3" Type="http://schemas.openxmlformats.org/officeDocument/2006/relationships/image" Target="../media/shot_05-test-card.png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shot_06-cabinet-category.png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3" Type="http://schemas.openxmlformats.org/officeDocument/2006/relationships/image" Target="../media/shot_07-fsp-card.png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3" Type="http://schemas.openxmlformats.org/officeDocument/2006/relationships/image" Target="../media/shot_08-fsp-card.png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3" Type="http://schemas.openxmlformats.org/officeDocument/2006/relationships/image" Target="../media/shot_10-shortlist-card.png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3" Type="http://schemas.openxmlformats.org/officeDocument/2006/relationships/image" Target="../media/shot_12-sent-card.png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3" Type="http://schemas.openxmlformats.org/officeDocument/2006/relationships/image" Target="../media/shot_13-offer-seen.png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3" Type="http://schemas.openxmlformats.org/officeDocument/2006/relationships/image" Target="../media/shot_15-accepted-card.png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shot_16-metrics.png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463" indent="-3175"/>
            <a:r>
              <a:rPr lang="ru-RU" dirty="0"/>
              <a:t xml:space="preserve">Цифровая платформа-агрегатор ИТ-вакансий </a:t>
            </a:r>
            <a:br>
              <a:rPr lang="ru-RU" dirty="0"/>
            </a:br>
            <a:r>
              <a:rPr lang="ru-RU" dirty="0"/>
              <a:t xml:space="preserve">с верифицированным профилем достижений </a:t>
            </a:r>
            <a:br>
              <a:rPr lang="ru-RU" dirty="0"/>
            </a:br>
            <a:r>
              <a:rPr lang="ru-RU" dirty="0"/>
              <a:t>участника Федерации спортивного программирования (ФСП)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  <p:pic>
        <p:nvPicPr>
          <p:cNvPr id="11" name="Логотип ФСП" descr="Логотип ФСП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852160"/>
            <a:ext cx="2194560" cy="65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Категория — специализация и грейд. Тест грейд не понижает. Достижения ФСП меняют порядок внутри категории. Пустая история — не ошибка.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 xml:space="preserve">Капитан: </a:t>
            </a:r>
            <a:r>
              <a:rPr lang="ru-RU" dirty="0">
                <a:solidFill>
                  <a:schemeClr val="tx1"/>
                </a:solidFill>
              </a:rPr>
              <a:t>Чистяков Евгений, разработка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 xml:space="preserve">Кол-во участников: </a:t>
            </a:r>
            <a:r>
              <a:rPr lang="ru-RU" dirty="0">
                <a:solidFill>
                  <a:schemeClr val="tx1"/>
                </a:solidFill>
              </a:rPr>
              <a:t>5 человек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 xml:space="preserve"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Прототип собран командой в каталоге product/.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Спецтрек ЛЦТ, Федерация спортивного программирования.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Россия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Работодатель сам находит категорию и пишет человеку с вилкой в рублях. Соискатель не откликается вслепую.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Разработка, продукт, подбор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echistyakov@aq.ru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по запросу жюри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спецтрек ЛЦТ / ФСП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Чистяков Евгений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Иван Курлыков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—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—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—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—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Леонид Пластуненко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—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—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—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—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Николай Кузнецов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—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—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—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—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802422" y="1809238"/>
            <a:ext cx="1722566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Игорь Софронов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—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—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—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—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Команда из пяти человек. Стенд и кабинеты живут в одном процессе. Боевого реестра ФСП на хакатоне нет — достижения читаются из SQLite после seed.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Категорию нельзя собрать из резюме. Приглашение нельзя сохранить без обеих границ вилки в рублях и контакта компании. Пустая история ФСП должна отображаться без ошибки загрузки.</a:t>
            </a:r>
            <a:r>
              <a:rPr lang="en-US" dirty="0">
                <a:solidFill>
                  <a:schemeClr val="tx1"/>
                </a:solidFill>
              </a:rPr>
              <a:t xml:space="preserve"> </a:t>
            </a:r>
            <a:r>
              <a:rPr lang="ru-RU" dirty="0">
                <a:solidFill>
                  <a:schemeClr val="tx1"/>
                </a:solidFill>
              </a:rPr>
              <a:t xml:space="preserve"> 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 xml:space="preserve"> </a:t>
            </a:r>
            <a:r>
              <a:rPr lang="en-US" dirty="0">
                <a:solidFill>
                  <a:schemeClr val="tx1"/>
                </a:solidFill>
              </a:rPr>
              <a:t xml:space="preserve">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 xml:space="preserve"> 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 xml:space="preserve"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Универсальные площадки не подтверждают грейд и не знают соревновательный профиль. ФСП даёт проверяемые результаты, а работодателю нужна категория, а не лента чужих вакансий.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 xml:space="preserve"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Монолит Python 3.12: Jinja2 и локальный htmx, FastAPI, один файл SQLite в режиме WAL. Кабинеты и API — один worker uvicorn. Запуск только командой docker compose -f deploy/fsp/compose.yaml up --build. Кабинеты: http://127.0.0.1:8000. Мок достижений — product/fsp_mock, шаблоны теста лежат в git и на проходе не переписываются.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Обратная механика: работодатель сам находит категорию и пишет человеку. Вилка в рублях видна сразу, почта соискателя — только после accepted. Отрасль MVP только it и в category_id не входит.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 xml:space="preserve"> </a:t>
            </a: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263123"/>
            <a:ext cx="5574868" cy="4937652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31" name="Caption"/>
          <p:cNvSpPr/>
          <p:nvPr/>
        </p:nvSpPr>
        <p:spPr>
          <a:xfrm>
            <a:off x="6583680" y="320040"/>
            <a:ext cx="53035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ru-RU" sz="1800" dirty="0" b="1">
                <a:solidFill>
                  <a:srgbClr val="FFFFFF"/>
                </a:solidFill>
                <a:latin typeface="Montserrat"/>
              </a:rPr>
              <a:t>Регистрация с согласием</a:t>
            </a:r>
          </a:p>
        </p:txBody>
      </p:sp>
      <p:pic>
        <p:nvPicPr>
          <p:cNvPr id="32" name="Регистрация с согласием" descr="Регистрация с согласие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960120"/>
            <a:ext cx="5212080" cy="3257550"/>
          </a:xfrm>
          <a:prstGeom prst="rect">
            <a:avLst/>
          </a:prstGeom>
        </p:spPr>
      </p:pic>
      <p:sp>
        <p:nvSpPr>
          <p:cNvPr id="33" name="Caption"/>
          <p:cNvSpPr/>
          <p:nvPr/>
        </p:nvSpPr>
        <p:spPr>
          <a:xfrm>
            <a:off x="6583680" y="6355080"/>
            <a:ext cx="5303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ru-RU" sz="1100" dirty="0">
                <a:solidFill>
                  <a:srgbClr val="FFFFFF"/>
                </a:solidFill>
                <a:latin typeface="Montserrat"/>
              </a:rPr>
              <a:t>Кабинет соискателя, живой стенд</a:t>
            </a:r>
          </a:p>
        </p:txBody>
      </p:sp>
      <p:pic>
        <p:nvPicPr>
          <p:cNvPr id="34" name="Код на странице" descr="Код на страниц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794760"/>
            <a:ext cx="3803904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56279"/>
            <a:ext cx="10789619" cy="3745441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22" name="Caption"/>
          <p:cNvSpPr/>
          <p:nvPr/>
        </p:nvSpPr>
        <p:spPr>
          <a:xfrm>
            <a:off x="6583680" y="320040"/>
            <a:ext cx="53035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ru-RU" sz="1800" dirty="0" b="1">
                <a:solidFill>
                  <a:srgbClr val="FFFFFF"/>
                </a:solidFill>
                <a:latin typeface="Montserrat"/>
              </a:rPr>
              <a:t>Анкета и тест записанного грейда</a:t>
            </a:r>
          </a:p>
        </p:txBody>
      </p:sp>
      <p:pic>
        <p:nvPicPr>
          <p:cNvPr id="23" name="Анкета и тест записанного грейда" descr="Анкета и тест записанного грейд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960120"/>
            <a:ext cx="5212080" cy="3619500"/>
          </a:xfrm>
          <a:prstGeom prst="rect">
            <a:avLst/>
          </a:prstGeom>
        </p:spPr>
      </p:pic>
      <p:sp>
        <p:nvSpPr>
          <p:cNvPr id="24" name="Caption"/>
          <p:cNvSpPr/>
          <p:nvPr/>
        </p:nvSpPr>
        <p:spPr>
          <a:xfrm>
            <a:off x="6583680" y="6355080"/>
            <a:ext cx="5303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ru-RU" sz="1100" dirty="0">
                <a:solidFill>
                  <a:srgbClr val="FFFFFF"/>
                </a:solidFill>
                <a:latin typeface="Montserrat"/>
              </a:rPr>
              <a:t>Шаблон выбирается по profile_id, на проходе не меняется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/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496888"/>
            <a:ext cx="4781233" cy="415925"/>
          </a:xfrm>
        </p:spPr>
        <p:txBody>
          <a:bodyPr/>
          <a:lstStyle/>
          <a:p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97D71A7D-1E9E-F7B1-53EA-139E488D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1" y="0"/>
            <a:ext cx="6096000" cy="6857999"/>
          </a:xfrm>
        </p:spPr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433" y="1143695"/>
            <a:ext cx="4807840" cy="4717356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Caption"/>
          <p:cNvSpPr/>
          <p:nvPr/>
        </p:nvSpPr>
        <p:spPr>
          <a:xfrm>
            <a:off x="6583680" y="320040"/>
            <a:ext cx="53035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ru-RU" sz="1800" dirty="0" b="1">
                <a:solidFill>
                  <a:srgbClr val="FFFFFF"/>
                </a:solidFill>
                <a:latin typeface="Montserrat"/>
              </a:rPr>
              <a:t>Категория = специализация + грейд</a:t>
            </a:r>
          </a:p>
        </p:txBody>
      </p:sp>
      <p:pic>
        <p:nvPicPr>
          <p:cNvPr id="11" name="Категория = специализация + грейд" descr="Категория = специализация + грей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960120"/>
            <a:ext cx="5212080" cy="3257550"/>
          </a:xfrm>
          <a:prstGeom prst="rect">
            <a:avLst/>
          </a:prstGeom>
        </p:spPr>
      </p:pic>
      <p:sp>
        <p:nvSpPr>
          <p:cNvPr id="12" name="Caption"/>
          <p:cNvSpPr/>
          <p:nvPr/>
        </p:nvSpPr>
        <p:spPr>
          <a:xfrm>
            <a:off x="6583680" y="6355080"/>
            <a:ext cx="5303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ru-RU" sz="1100" dirty="0">
                <a:solidFill>
                  <a:srgbClr val="FFFFFF"/>
                </a:solidFill>
                <a:latin typeface="Montserrat"/>
              </a:rPr>
              <a:t>Отрасль it в статусе, в category_id не входит</a:t>
            </a:r>
          </a:p>
        </p:txBody>
      </p:sp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15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Caption"/>
          <p:cNvSpPr/>
          <p:nvPr/>
        </p:nvSpPr>
        <p:spPr>
          <a:xfrm>
            <a:off x="6583680" y="320040"/>
            <a:ext cx="53035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ru-RU" sz="1800" dirty="0" b="1">
                <a:solidFill>
                  <a:srgbClr val="FFFFFF"/>
                </a:solidFill>
                <a:latin typeface="Montserrat"/>
              </a:rPr>
              <a:t>fsp-synth-1: несколько дисциплин</a:t>
            </a:r>
          </a:p>
        </p:txBody>
      </p:sp>
      <p:pic>
        <p:nvPicPr>
          <p:cNvPr id="23" name="fsp-synth-1: несколько дисциплин" descr="fsp-synth-1: несколько дисципли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960120"/>
            <a:ext cx="5212080" cy="3981450"/>
          </a:xfrm>
          <a:prstGeom prst="rect">
            <a:avLst/>
          </a:prstGeom>
        </p:spPr>
      </p:pic>
      <p:sp>
        <p:nvSpPr>
          <p:cNvPr id="24" name="Caption"/>
          <p:cNvSpPr/>
          <p:nvPr/>
        </p:nvSpPr>
        <p:spPr>
          <a:xfrm>
            <a:off x="6583680" y="6355080"/>
            <a:ext cx="5303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ru-RU" sz="1100" dirty="0">
                <a:solidFill>
                  <a:srgbClr val="FFFFFF"/>
                </a:solidFill>
                <a:latin typeface="Montserrat"/>
              </a:rPr>
              <a:t>Разряд хранится строкой источника</a:t>
            </a:r>
          </a:p>
        </p:txBody>
      </p: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8" name="Caption"/>
          <p:cNvSpPr/>
          <p:nvPr/>
        </p:nvSpPr>
        <p:spPr>
          <a:xfrm>
            <a:off x="6583680" y="320040"/>
            <a:ext cx="53035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ru-RU" sz="1800" dirty="0" b="1">
                <a:solidFill>
                  <a:srgbClr val="FFFFFF"/>
                </a:solidFill>
                <a:latin typeface="Montserrat"/>
              </a:rPr>
              <a:t>fsp-synth-2: пустая история</a:t>
            </a:r>
          </a:p>
        </p:txBody>
      </p:sp>
      <p:pic>
        <p:nvPicPr>
          <p:cNvPr id="29" name="fsp-synth-2: пустая история" descr="fsp-synth-2: пустая истори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960120"/>
            <a:ext cx="5212080" cy="3619500"/>
          </a:xfrm>
          <a:prstGeom prst="rect">
            <a:avLst/>
          </a:prstGeom>
        </p:spPr>
      </p:pic>
      <p:sp>
        <p:nvSpPr>
          <p:cNvPr id="30" name="Caption"/>
          <p:cNvSpPr/>
          <p:nvPr/>
        </p:nvSpPr>
        <p:spPr>
          <a:xfrm>
            <a:off x="6583680" y="6355080"/>
            <a:ext cx="5303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ru-RU" sz="1100" dirty="0">
                <a:solidFill>
                  <a:srgbClr val="FFFFFF"/>
                </a:solidFill>
                <a:latin typeface="Montserrat"/>
              </a:rPr>
              <a:t>Кабинет не рисует ошибку загрузки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22" name="Caption"/>
          <p:cNvSpPr/>
          <p:nvPr/>
        </p:nvSpPr>
        <p:spPr>
          <a:xfrm>
            <a:off x="6583680" y="320040"/>
            <a:ext cx="53035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ru-RU" sz="1800" dirty="0" b="1">
                <a:solidFill>
                  <a:srgbClr val="FFFFFF"/>
                </a:solidFill>
                <a:latin typeface="Montserrat"/>
              </a:rPr>
              <a:t>Подборка работодателя backend:middle</a:t>
            </a:r>
          </a:p>
        </p:txBody>
      </p:sp>
      <p:pic>
        <p:nvPicPr>
          <p:cNvPr id="23" name="Подборка работодателя backend:middle" descr="Подборка работодателя backend:midd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960120"/>
            <a:ext cx="5212080" cy="4343400"/>
          </a:xfrm>
          <a:prstGeom prst="rect">
            <a:avLst/>
          </a:prstGeom>
        </p:spPr>
      </p:pic>
      <p:sp>
        <p:nvSpPr>
          <p:cNvPr id="24" name="Caption"/>
          <p:cNvSpPr/>
          <p:nvPr/>
        </p:nvSpPr>
        <p:spPr>
          <a:xfrm>
            <a:off x="6583680" y="6355080"/>
            <a:ext cx="5303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ru-RU" sz="1100" dirty="0">
                <a:solidFill>
                  <a:srgbClr val="FFFFFF"/>
                </a:solidFill>
                <a:latin typeface="Montserrat"/>
              </a:rPr>
              <a:t>Выше балл, затем больше достижений ФСП</a:t>
            </a: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18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15961" y="1428777"/>
            <a:ext cx="3866856" cy="423628"/>
          </a:xfrm>
        </p:spPr>
        <p:txBody>
          <a:bodyPr/>
          <a:lstStyle/>
          <a:p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15964" y="1996388"/>
            <a:ext cx="3866856" cy="672075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596605" y="3032761"/>
            <a:ext cx="3866856" cy="403756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596605" y="3580500"/>
            <a:ext cx="3866856" cy="67207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96605" y="4616873"/>
            <a:ext cx="3866856" cy="403913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96605" y="5164612"/>
            <a:ext cx="3866856" cy="67207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89068" y="1428777"/>
            <a:ext cx="3866856" cy="423628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289071" y="1996388"/>
            <a:ext cx="3866856" cy="67207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269712" y="3032761"/>
            <a:ext cx="3866856" cy="403756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269712" y="3580500"/>
            <a:ext cx="3866856" cy="67207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269712" y="4616873"/>
            <a:ext cx="3866856" cy="403913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269712" y="5164612"/>
            <a:ext cx="3866856" cy="67207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394052"/>
            <a:ext cx="771003" cy="423628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1557" y="2998036"/>
            <a:ext cx="771003" cy="403756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01557" y="4582148"/>
            <a:ext cx="771003" cy="403913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194020" y="1394052"/>
            <a:ext cx="771003" cy="423628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174664" y="2998036"/>
            <a:ext cx="771003" cy="403756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174664" y="4582148"/>
            <a:ext cx="771003" cy="403913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4" name="Caption"/>
          <p:cNvSpPr/>
          <p:nvPr/>
        </p:nvSpPr>
        <p:spPr>
          <a:xfrm>
            <a:off x="6583680" y="320040"/>
            <a:ext cx="53035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ru-RU" sz="1800" dirty="0" b="1">
                <a:solidFill>
                  <a:srgbClr val="FFFFFF"/>
                </a:solidFill>
                <a:latin typeface="Montserrat"/>
              </a:rPr>
              <a:t>Приглашение: вилка RUB, контакт сразу</a:t>
            </a:r>
          </a:p>
        </p:txBody>
      </p:sp>
      <p:pic>
        <p:nvPicPr>
          <p:cNvPr id="25" name="Приглашение: вилка RUB, контакт сразу" descr="Приглашение: вилка RUB, контакт сразу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960120"/>
            <a:ext cx="5212080" cy="3481958"/>
          </a:xfrm>
          <a:prstGeom prst="rect">
            <a:avLst/>
          </a:prstGeom>
        </p:spPr>
      </p:pic>
      <p:sp>
        <p:nvSpPr>
          <p:cNvPr id="26" name="Caption"/>
          <p:cNvSpPr/>
          <p:nvPr/>
        </p:nvSpPr>
        <p:spPr>
          <a:xfrm>
            <a:off x="6583680" y="6355080"/>
            <a:ext cx="5303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ru-RU" sz="1100" dirty="0">
                <a:solidFill>
                  <a:srgbClr val="FFFFFF"/>
                </a:solidFill>
                <a:latin typeface="Montserrat"/>
              </a:rPr>
              <a:t>Статус sent, почты соискателя нет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F9BE287-CC84-BD90-E298-4EEA93BE9A7E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EAAB83-DF67-4A10-A863-77C294117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19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D2D50A4-F98A-4A5D-A666-B99022C861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prstGeom prst="roundRect">
            <a:avLst>
              <a:gd name="adj" fmla="val 6127"/>
            </a:avLst>
          </a:prstGeo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5D0B644D-D790-48C2-BC35-EDB0C7DDBB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prstGeom prst="roundRect">
            <a:avLst>
              <a:gd name="adj" fmla="val 11783"/>
            </a:avLst>
          </a:prstGeo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EAAC3104-3761-4B60-BF27-9DB79C3445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prstGeom prst="roundRect">
            <a:avLst>
              <a:gd name="adj" fmla="val 7254"/>
            </a:avLst>
          </a:prstGeom>
        </p:spPr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849BF57-EB33-4692-98F6-8A1B9293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Заголовок 13">
            <a:extLst>
              <a:ext uri="{FF2B5EF4-FFF2-40B4-BE49-F238E27FC236}">
                <a16:creationId xmlns:a16="http://schemas.microsoft.com/office/drawing/2014/main" id="{641DFED5-BDC7-0680-A1A0-F6CEB622B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75523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1" name="Caption"/>
          <p:cNvSpPr/>
          <p:nvPr/>
        </p:nvSpPr>
        <p:spPr>
          <a:xfrm>
            <a:off x="6583680" y="320040"/>
            <a:ext cx="53035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ru-RU" sz="1800" dirty="0" b="1">
                <a:solidFill>
                  <a:srgbClr val="FFFFFF"/>
                </a:solidFill>
                <a:latin typeface="Montserrat"/>
              </a:rPr>
              <a:t>Открытие: sent → seen</a:t>
            </a:r>
          </a:p>
        </p:txBody>
      </p:sp>
      <p:pic>
        <p:nvPicPr>
          <p:cNvPr id="12" name="Открытие: sent → seen" descr="Открытие: sent → s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960120"/>
            <a:ext cx="5212080" cy="3257550"/>
          </a:xfrm>
          <a:prstGeom prst="rect">
            <a:avLst/>
          </a:prstGeom>
        </p:spPr>
      </p:pic>
      <p:sp>
        <p:nvSpPr>
          <p:cNvPr id="13" name="Caption"/>
          <p:cNvSpPr/>
          <p:nvPr/>
        </p:nvSpPr>
        <p:spPr>
          <a:xfrm>
            <a:off x="6583680" y="6355080"/>
            <a:ext cx="5303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ru-RU" sz="1100" dirty="0">
                <a:solidFill>
                  <a:srgbClr val="FFFFFF"/>
                </a:solidFill>
                <a:latin typeface="Montserrat"/>
              </a:rPr>
              <a:t>Способ связи компании виден сразу</a:t>
            </a:r>
          </a:p>
        </p:txBody>
      </p:sp>
    </p:spTree>
    <p:extLst>
      <p:ext uri="{BB962C8B-B14F-4D97-AF65-F5344CB8AC3E}">
        <p14:creationId xmlns:p14="http://schemas.microsoft.com/office/powerpoint/2010/main" val="2384268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/>
            <a:endParaRPr lang="ru-RU" sz="3600" b="1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5" name="Caption"/>
          <p:cNvSpPr/>
          <p:nvPr/>
        </p:nvSpPr>
        <p:spPr>
          <a:xfrm>
            <a:off x="6583680" y="320040"/>
            <a:ext cx="53035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ru-RU" sz="1800" dirty="0" b="1">
                <a:solidFill>
                  <a:srgbClr val="FFFFFF"/>
                </a:solidFill>
                <a:latin typeface="Montserrat"/>
              </a:rPr>
              <a:t>После accepted появляется почта</a:t>
            </a:r>
          </a:p>
        </p:txBody>
      </p:sp>
      <p:pic>
        <p:nvPicPr>
          <p:cNvPr id="26" name="После accepted появляется почта" descr="После accepted появляется почт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960120"/>
            <a:ext cx="5212080" cy="3615880"/>
          </a:xfrm>
          <a:prstGeom prst="rect">
            <a:avLst/>
          </a:prstGeom>
        </p:spPr>
      </p:pic>
      <p:sp>
        <p:nvSpPr>
          <p:cNvPr id="27" name="Caption"/>
          <p:cNvSpPr/>
          <p:nvPr/>
        </p:nvSpPr>
        <p:spPr>
          <a:xfrm>
            <a:off x="6583680" y="6355080"/>
            <a:ext cx="5303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ru-RU" sz="1100" dirty="0">
                <a:solidFill>
                  <a:srgbClr val="FFFFFF"/>
                </a:solidFill>
                <a:latin typeface="Montserrat"/>
              </a:rPr>
              <a:t>Почта соискателя только в этом статусе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91637" y="1649793"/>
            <a:ext cx="4790314" cy="779602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1637" y="3515862"/>
            <a:ext cx="4790314" cy="869021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1637" y="5471798"/>
            <a:ext cx="4790314" cy="848014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658358F-6A3F-4E56-8E2C-0059A594A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485138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63648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5" name="Caption"/>
          <p:cNvSpPr/>
          <p:nvPr/>
        </p:nvSpPr>
        <p:spPr>
          <a:xfrm>
            <a:off x="6583680" y="320040"/>
            <a:ext cx="53035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ru-RU" sz="1800" dirty="0" b="1">
                <a:solidFill>
                  <a:srgbClr val="FFFFFF"/>
                </a:solidFill>
                <a:latin typeface="Montserrat"/>
              </a:rPr>
              <a:t>Прогон валидации</a:t>
            </a:r>
          </a:p>
        </p:txBody>
      </p:sp>
      <p:pic>
        <p:nvPicPr>
          <p:cNvPr id="16" name="Метрики прогона" descr="Метрики прогона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960120"/>
            <a:ext cx="5212080" cy="293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22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0582B6-28AC-45F4-BD2D-467E652DBD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82DF7C-A3AD-43CF-A10D-0B36529054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55267" y="1722800"/>
            <a:ext cx="4790314" cy="642164"/>
          </a:xfrm>
        </p:spPr>
        <p:txBody>
          <a:bodyPr/>
          <a:lstStyle/>
          <a:p>
            <a:endParaRPr lang="ru-RU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58F12B-018B-418A-A49D-1D36B842AE9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CEBFD9-BA50-4FE2-AEDF-186C2F4D3D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55267" y="2991361"/>
            <a:ext cx="4790314" cy="642164"/>
          </a:xfrm>
        </p:spPr>
        <p:txBody>
          <a:bodyPr/>
          <a:lstStyle/>
          <a:p>
            <a:endParaRPr lang="ru-RU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2AF062-A059-495E-BB70-46D2DA99A1F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2FC86C2-74E3-4069-A985-340E87E70F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55267" y="4259922"/>
            <a:ext cx="4790314" cy="642164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D835328-9C3F-4BAA-A363-BCF05AE9CAA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F3516B2-5C9F-4B2E-B489-4C7C76EB80F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55267" y="5528484"/>
            <a:ext cx="4790314" cy="642164"/>
          </a:xfrm>
        </p:spPr>
        <p:txBody>
          <a:bodyPr/>
          <a:lstStyle/>
          <a:p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23BDA4A7-21AE-4EEC-8367-DB38D1BA31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1416834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Caption"/>
          <p:cNvSpPr/>
          <p:nvPr/>
        </p:nvSpPr>
        <p:spPr>
          <a:xfrm>
            <a:off x="6583680" y="320040"/>
            <a:ext cx="53035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ru-RU" sz="1800" dirty="0" b="1">
                <a:solidFill>
                  <a:srgbClr val="FFFFFF"/>
                </a:solidFill>
                <a:latin typeface="Montserrat"/>
              </a:rPr>
              <a:t>Стенд одной командой</a:t>
            </a:r>
          </a:p>
        </p:txBody>
      </p:sp>
      <p:sp>
        <p:nvSpPr>
          <p:cNvPr id="17" name="Caption"/>
          <p:cNvSpPr/>
          <p:nvPr/>
        </p:nvSpPr>
        <p:spPr>
          <a:xfrm>
            <a:off x="6583680" y="1097280"/>
            <a:ext cx="5303520" cy="5120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ru-RU" sz="1400" dirty="0">
                <a:solidFill>
                  <a:srgbClr val="FFFFFF"/>
                </a:solidFill>
                <a:latin typeface="Montserrat"/>
              </a:rPr>
              <a:t>docker compose -f deploy/fsp/compose.yaml up --build
Кабинеты: http://127.0.0.1:8000
OpenAPI: /docs, схема в product/openapi.json
На хосте только Docker Engine и плагин Compose. PRODUCT_SECRET пишется сам, если короче 32 символов.
Прогон валидации — ссылка в подборке работодателя, один раз после четырёх шагов демо.</a:t>
            </a:r>
          </a:p>
        </p:txBody>
      </p:sp>
    </p:spTree>
    <p:extLst>
      <p:ext uri="{BB962C8B-B14F-4D97-AF65-F5344CB8AC3E}">
        <p14:creationId xmlns:p14="http://schemas.microsoft.com/office/powerpoint/2010/main" val="1199786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sz="1400" dirty="0" b="1"/>
              <a:t>Регистрация и код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r>
              <a:rPr lang="ru-RU" sz="1100" dirty="0"/>
              <a:t>Соискатель создаёт учётную запись с согласием. Код подтверждения показан на странице: внешней почты на стенде нет.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sz="1400" dirty="0" b="1"/>
              <a:t>Анкета и тест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r>
              <a:rPr lang="ru-RU" sz="1100" dirty="0"/>
              <a:t>Специализация и заявленный грейд, публикация. «Начать тест записанного грейда», затем «Сдать тест». Категория складывается рядом с объяснением.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sz="1400" dirty="0" b="1"/>
              <a:t>Мок ФСП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r>
              <a:rPr lang="ru-RU" sz="1100" dirty="0"/>
              <a:t>fsp-synth-1 — несколько дисциплин и разряд строкой источника. fsp-synth-2 — пустая история без ошибки загрузки.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sz="1400" dirty="0" b="1"/>
              <a:t>Приглашение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r>
              <a:rPr lang="ru-RU" sz="1100" dirty="0"/>
              <a:t>Вилка в рублях, обе границы, контакт компании сразу. sent → seen при открытии, почта — только после accepted.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sz="1400" dirty="0" b="1"/>
              <a:t>Прогон валидации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r>
              <a:rPr lang="ru-RU" sz="1100" dirty="0"/>
              <a:t>Один раз после четырёх шагов. Пять строк этого запуска, без выдуманных процентов.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 sz="2000" dirty="0" b="1"/>
              <a:t>ДЕМОНСТРАЦИЯ НА СТЕНДЕ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11028</TotalTime>
  <Words>632</Words>
  <Application>Microsoft Macintosh PowerPoint</Application>
  <PresentationFormat>Широкоэкранный</PresentationFormat>
  <Paragraphs>187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Ирина</cp:lastModifiedBy>
  <cp:revision>97</cp:revision>
  <dcterms:created xsi:type="dcterms:W3CDTF">2023-05-15T07:36:23Z</dcterms:created>
  <dcterms:modified xsi:type="dcterms:W3CDTF">2026-10-02T08:27:06Z</dcterms:modified>
</cp:coreProperties>
</file>