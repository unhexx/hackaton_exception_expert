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inelin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94360"/>
            <a:ext cx="2560320" cy="33465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1371600"/>
            <a:ext cx="4114800" cy="320040"/>
          </a:xfrm>
          <a:prstGeom prst="roundRect">
            <a:avLst/>
          </a:prstGeom>
          <a:solidFill>
            <a:srgbClr val="251C35"/>
          </a:solidFill>
          <a:ln w="12700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0053"/>
                </a:solidFill>
                <a:latin typeface="JetBrains Mono"/>
              </a:defRPr>
            </a:pPr>
            <a:r>
              <a:t>ФЕДЕРАЦИЯ СПОРТИВНОГО ПРОГРАММИРОВАНИЯ • СПЕЦТРЭК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600" b="1">
                <a:solidFill>
                  <a:srgbClr val="FFFFFF"/>
                </a:solidFill>
                <a:latin typeface="Montserrat"/>
              </a:defRPr>
            </a:pPr>
            <a:r>
              <a:t>SPECTRACK</a:t>
            </a:r>
          </a:p>
          <a:p>
            <a:pPr>
              <a:defRPr sz="1400">
                <a:solidFill>
                  <a:srgbClr val="ACA7BA"/>
                </a:solidFill>
                <a:latin typeface="Montserrat"/>
              </a:defRPr>
            </a:pPr>
            <a:r>
              <a:t>Цифровая платформа-агрегатор ИТ-вакансий с верифицированным профилем достижений ФСП и адаптивным подтверждением квалификации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20440"/>
            <a:ext cx="2542032" cy="16916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3685032"/>
            <a:ext cx="365760" cy="36576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49040"/>
            <a:ext cx="2176272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0053"/>
                </a:solidFill>
                <a:latin typeface="JetBrains Mono"/>
              </a:defRPr>
            </a:pPr>
            <a:r>
              <a:t>92.7%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Точность грейда</a:t>
            </a:r>
          </a:p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со статусом «уверенно», 0% ошибок &gt; 1 ступени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520440"/>
            <a:ext cx="2542032" cy="16916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39312" y="3685032"/>
            <a:ext cx="365760" cy="36576"/>
          </a:xfrm>
          <a:prstGeom prst="rect">
            <a:avLst/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3749040"/>
            <a:ext cx="2176272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8A83D1"/>
                </a:solidFill>
                <a:latin typeface="JetBrains Mono"/>
              </a:defRPr>
            </a:pPr>
            <a:r>
              <a:t>38 / 38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Золотой набор</a:t>
            </a:r>
          </a:p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100% совпадение целевых категорий в golden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520440"/>
            <a:ext cx="2542032" cy="16916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3685032"/>
            <a:ext cx="365760" cy="36576"/>
          </a:xfrm>
          <a:prstGeom prst="rect">
            <a:avLst/>
          </a:prstGeom>
          <a:solidFill>
            <a:srgbClr val="52D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3749040"/>
            <a:ext cx="2176272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52D978"/>
                </a:solidFill>
                <a:latin typeface="JetBrains Mono"/>
              </a:defRPr>
            </a:pPr>
            <a:r>
              <a:t>100% Offline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Zero-Cloud архитектура</a:t>
            </a:r>
          </a:p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FastAPI + SQLite WAL, локальный htmx, без CDN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3520440"/>
            <a:ext cx="2542032" cy="16916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89136" y="3685032"/>
            <a:ext cx="365760" cy="36576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3749040"/>
            <a:ext cx="2176272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0053"/>
                </a:solidFill>
                <a:latin typeface="JetBrains Mono"/>
              </a:defRPr>
            </a:pPr>
            <a:r>
              <a:t>31 API / 125 тестов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Качество и готовность</a:t>
            </a:r>
          </a:p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OpenAPI спецификация, прогон тестов прямо на стенде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40680"/>
            <a:ext cx="10728655" cy="822960"/>
          </a:xfrm>
          <a:prstGeom prst="roundRect">
            <a:avLst/>
          </a:prstGeom>
          <a:solidFill>
            <a:srgbClr val="1F1B2B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5321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8A83D1"/>
                </a:solidFill>
                <a:latin typeface="JetBrains Mono"/>
              </a:defRPr>
            </a:pPr>
            <a:r>
              <a:t>КОМАНДА РАЗРАБОТКИ:</a:t>
            </a:r>
          </a:p>
          <a:p>
            <a:pPr>
              <a:defRPr sz="1050" b="1">
                <a:solidFill>
                  <a:srgbClr val="FFFFFF"/>
                </a:solidFill>
                <a:latin typeface="Montserrat"/>
              </a:defRPr>
            </a:pPr>
            <a:r>
              <a:t>Чистяков Евгений (капитан) • Иван Курлыков • Леонид Пластуненко • Николай Кузнецов • Игорь Софронов | Контакт: echistyakov@aq.ru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ПРОБЛЕМА И КОНЦЕПЦИЯ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Разрыв рынка найма: хаос откликов против верификации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Почему классические джоб-борды не работают для соискателей и работодателей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34290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30632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F0053"/>
                </a:solidFill>
                <a:latin typeface="JetBrains Mono"/>
              </a:defRPr>
            </a:pPr>
            <a:r>
              <a:t>БОЛЬ КАНДИДАТА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Слепые отклики: </a:t>
            </a:r>
            <a:r>
              <a:rPr sz="1050">
                <a:solidFill>
                  <a:srgbClr val="E4E1ED"/>
                </a:solidFill>
                <a:latin typeface="Montserrat"/>
              </a:rPr>
              <a:t>Сотни резюме отправляются в пустоту без понятной обратной связи и критериев отбора.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Скрытые зарплаты: </a:t>
            </a:r>
            <a:r>
              <a:rPr sz="1050">
                <a:solidFill>
                  <a:srgbClr val="E4E1ED"/>
                </a:solidFill>
                <a:latin typeface="Montserrat"/>
              </a:rPr>
              <a:t>Работодатели прячут вилки («по результатам собеседования»), отнимая время кандидатов.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Субъективный скрининг: </a:t>
            </a:r>
            <a:r>
              <a:rPr sz="1050">
                <a:solidFill>
                  <a:srgbClr val="E4E1ED"/>
                </a:solidFill>
                <a:latin typeface="Montserrat"/>
              </a:rPr>
              <a:t>Оценка навыков часто зависит от настроения рекрутера, а не реальной инженерной квалификации.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Игнорирование ФСП: </a:t>
            </a:r>
            <a:r>
              <a:rPr sz="1050">
                <a:solidFill>
                  <a:srgbClr val="E4E1ED"/>
                </a:solidFill>
                <a:latin typeface="Montserrat"/>
              </a:rPr>
              <a:t>Спортивные достижения и разряды не учитываются традиционными HR-системами.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4290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0632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8A83D1"/>
                </a:solidFill>
                <a:latin typeface="JetBrains Mono"/>
              </a:defRPr>
            </a:pPr>
            <a:r>
              <a:t>БОЛЬ РАБОТОДАТЕЛЯ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Лавина нерелевантного спама: </a:t>
            </a:r>
            <a:r>
              <a:rPr sz="1050">
                <a:solidFill>
                  <a:srgbClr val="E4E1ED"/>
                </a:solidFill>
                <a:latin typeface="Montserrat"/>
              </a:rPr>
              <a:t>Сотни неподходящих откликов на каждую открытую вакансию блокируют работу HR.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Недостоверные резюме: </a:t>
            </a:r>
            <a:r>
              <a:rPr sz="1050">
                <a:solidFill>
                  <a:srgbClr val="E4E1ED"/>
                </a:solidFill>
                <a:latin typeface="Montserrat"/>
              </a:rPr>
              <a:t>Завышенные грейды в резюме вскрываются только на дорогостоящих технических интервью.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Колоссальные затраты: </a:t>
            </a:r>
            <a:r>
              <a:rPr sz="1050">
                <a:solidFill>
                  <a:srgbClr val="E4E1ED"/>
                </a:solidFill>
                <a:latin typeface="Montserrat"/>
              </a:rPr>
              <a:t>Десятки часов Senior-инженеров тратятся на отсев кандидатов со слабым базовым уровнем.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Отсутствие единой метрики: </a:t>
            </a:r>
            <a:r>
              <a:rPr sz="1050">
                <a:solidFill>
                  <a:srgbClr val="E4E1ED"/>
                </a:solidFill>
                <a:latin typeface="Montserrat"/>
              </a:rPr>
              <a:t>Нет стандартизированного инструмента быстрой независимой валидации грейда.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429000" cy="4892040"/>
          </a:xfrm>
          <a:prstGeom prst="roundRect">
            <a:avLst/>
          </a:prstGeom>
          <a:solidFill>
            <a:srgbClr val="1F1B2B"/>
          </a:solidFill>
          <a:ln w="15240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37360"/>
            <a:ext cx="30632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52D978"/>
                </a:solidFill>
                <a:latin typeface="JetBrains Mono"/>
              </a:defRPr>
            </a:pPr>
            <a:r>
              <a:t>РЕШЕНИЕ SPECTRACK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Обратная механика: </a:t>
            </a:r>
            <a:r>
              <a:rPr sz="1050">
                <a:solidFill>
                  <a:srgbClr val="E4E1ED"/>
                </a:solidFill>
                <a:latin typeface="Montserrat"/>
              </a:rPr>
              <a:t>Кандидат не спамит откликами. Работодатель сам находит профиль по верифицированной категории.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Прозрачные вилки: </a:t>
            </a:r>
            <a:r>
              <a:rPr sz="1050">
                <a:solidFill>
                  <a:srgbClr val="E4E1ED"/>
                </a:solidFill>
                <a:latin typeface="Montserrat"/>
              </a:rPr>
              <a:t>Работодатель обязан указать обе границы вилки в рублях в первом же сообщении.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Адаптивный IRT-тест: </a:t>
            </a:r>
            <a:r>
              <a:rPr sz="1050">
                <a:solidFill>
                  <a:srgbClr val="E4E1ED"/>
                </a:solidFill>
                <a:latin typeface="Montserrat"/>
              </a:rPr>
              <a:t>12 вопросов единого плана валидируют реальный грейд с надежностью 92.7% без зубрежки.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1050" b="1">
                <a:solidFill>
                  <a:srgbClr val="FFFFFF"/>
                </a:solidFill>
                <a:latin typeface="Montserrat"/>
              </a:rPr>
              <a:t>Реестр достижений ФСП: </a:t>
            </a:r>
            <a:r>
              <a:rPr sz="1050">
                <a:solidFill>
                  <a:srgbClr val="E4E1ED"/>
                </a:solidFill>
                <a:latin typeface="Montserrat"/>
              </a:rPr>
              <a:t>Прямой учет спортивных разрядов и турнирных баллов Федерации спортивного программирования.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КОМАНДА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Состав команды и зоны инженерной ответственности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Слаженная работа 5 специалистов: от математического моделирования до продакшн-стенда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34290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3063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Montserrat"/>
              </a:defRPr>
            </a:pPr>
            <a:r>
              <a:t>Евгений Чистяков</a:t>
            </a:r>
          </a:p>
          <a:p>
            <a:pPr>
              <a:spcAft>
                <a:spcPts val="600"/>
              </a:spcAft>
              <a:defRPr sz="900" b="1">
                <a:solidFill>
                  <a:srgbClr val="FF0053"/>
                </a:solidFill>
                <a:latin typeface="JetBrains Mono"/>
              </a:defRPr>
            </a:pPr>
            <a:r>
              <a:t>Капитан команды • Архитектура • Продукт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Общая архитектура монолита и проектирование сервисов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Разработка ядра подбора и правил категоризации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Взаимодействие с оргкомитетом и защита проекта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4290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73352"/>
            <a:ext cx="3063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Montserrat"/>
              </a:defRPr>
            </a:pPr>
            <a:r>
              <a:t>Иван Курлыков</a:t>
            </a:r>
          </a:p>
          <a:p>
            <a:pPr>
              <a:spcAft>
                <a:spcPts val="600"/>
              </a:spcAft>
              <a:defRPr sz="900" b="1">
                <a:solidFill>
                  <a:srgbClr val="8A83D1"/>
                </a:solidFill>
                <a:latin typeface="JetBrains Mono"/>
              </a:defRPr>
            </a:pPr>
            <a:r>
              <a:t>Алгоритмы ранжирования • Математика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Многофакторный алгоритм скоринга потребности evaluate_need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Интеграция стемминга русской и английской морфологии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Нормализация стеков технологий и синонимов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4290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73352"/>
            <a:ext cx="3063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Montserrat"/>
              </a:defRPr>
            </a:pPr>
            <a:r>
              <a:t>Леонид Пластуненко</a:t>
            </a:r>
          </a:p>
          <a:p>
            <a:pPr>
              <a:spcAft>
                <a:spcPts val="600"/>
              </a:spcAft>
              <a:defRPr sz="900" b="1">
                <a:solidFill>
                  <a:srgbClr val="8A83D1"/>
                </a:solidFill>
                <a:latin typeface="JetBrains Mono"/>
              </a:defRPr>
            </a:pPr>
            <a:r>
              <a:t>Движок тестирования • Адаптивный IRT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Реализация механики 12 вопросов единого плана 3/6/3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Алгоритм адаптивного добора блоков на границе грейда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Генерация одноразовых ID вариантов и защита от утечек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33672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Montserrat"/>
              </a:defRPr>
            </a:pPr>
            <a:r>
              <a:t>Николай Кузнецов</a:t>
            </a:r>
          </a:p>
          <a:p>
            <a:pPr>
              <a:spcAft>
                <a:spcPts val="600"/>
              </a:spcAft>
              <a:defRPr sz="900" b="1">
                <a:solidFill>
                  <a:srgbClr val="8A83D1"/>
                </a:solidFill>
                <a:latin typeface="JetBrains Mono"/>
              </a:defRPr>
            </a:pPr>
            <a:r>
              <a:t>Fullstack разработка • Web UI &amp; Security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Разработка серверных шаблонов Jinja2 и реактивного htmx без CDN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Безопасность: сессии, хэширование Argon2, шторка контактов 152-ФЗ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Отображение воронки статусов sent -&gt; seen -&gt; accepted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8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233672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Montserrat"/>
              </a:defRPr>
            </a:pPr>
            <a:r>
              <a:t>Игорь Софронов</a:t>
            </a:r>
          </a:p>
          <a:p>
            <a:pPr>
              <a:spcAft>
                <a:spcPts val="600"/>
              </a:spcAft>
              <a:defRPr sz="900" b="1">
                <a:solidFill>
                  <a:srgbClr val="52D978"/>
                </a:solidFill>
                <a:latin typeface="JetBrains Mono"/>
              </a:defRPr>
            </a:pPr>
            <a:r>
              <a:t>Валидация • Golden Run • Стенд и DevOps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Подготовка стенда Docker Compose (uvicorn в одном процессе)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Разработка Golden Run набора из 38 профилей и симуляции 500 кандидатов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Обеспечение 100% offline-режима без обращения к внешней сети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ИНЖЕНЕРНЫЕ ВЫЗОВЫ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С какими основными сложностями столкнулись и как преодолели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Строгое следование ТЗ: решение краевых случаев и архитектурных ограничений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73352"/>
            <a:ext cx="4855464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F0053"/>
                </a:solidFill>
                <a:latin typeface="JetBrains Mono"/>
              </a:defRPr>
            </a:pPr>
            <a:r>
              <a:t>ВЫЗОВ 01: СИНТЕЗ КАТЕГОРИИ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000" b="1">
                <a:solidFill>
                  <a:srgbClr val="FFFFFF"/>
                </a:solidFill>
                <a:latin typeface="Montserrat"/>
              </a:rPr>
              <a:t>Проблема: </a:t>
            </a:r>
            <a:r>
              <a:rPr sz="1000">
                <a:solidFill>
                  <a:srgbClr val="E4E1ED"/>
                </a:solidFill>
                <a:latin typeface="Montserrat"/>
              </a:rPr>
              <a:t>Категория складывается из специализации и подтвержденного грейда (напр. backend:middle). Отрасль MVP зафиксирована в IT и в ID не входит.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• </a:t>
            </a:r>
            <a:r>
              <a:rPr sz="1000" b="1">
                <a:solidFill>
                  <a:srgbClr val="FFFFFF"/>
                </a:solidFill>
                <a:latin typeface="Montserrat"/>
              </a:rPr>
              <a:t>Решение: </a:t>
            </a:r>
            <a:r>
              <a:rPr sz="1000">
                <a:solidFill>
                  <a:srgbClr val="E4E1ED"/>
                </a:solidFill>
                <a:latin typeface="Montserrat"/>
              </a:rPr>
              <a:t>Резюме PDF парсится pypdf и нормализуется словарем синонимов, но после прохождения теста PDF не может затереть подтвержденный грейд.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673352"/>
            <a:ext cx="4855464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8A83D1"/>
                </a:solidFill>
                <a:latin typeface="JetBrains Mono"/>
              </a:defRPr>
            </a:pPr>
            <a:r>
              <a:t>ВЫЗОВ 02: ОБЯЗАТЕЛЬНЫЕ РУБЛЕВЫЕ ВИЛКИ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83D1"/>
                </a:solidFill>
                <a:latin typeface="Montserrat"/>
              </a:rPr>
              <a:t>• </a:t>
            </a:r>
            <a:r>
              <a:rPr sz="1000" b="1">
                <a:solidFill>
                  <a:srgbClr val="FFFFFF"/>
                </a:solidFill>
                <a:latin typeface="Montserrat"/>
              </a:rPr>
              <a:t>Проблема: </a:t>
            </a:r>
            <a:r>
              <a:rPr sz="1000">
                <a:solidFill>
                  <a:srgbClr val="E4E1ED"/>
                </a:solidFill>
                <a:latin typeface="Montserrat"/>
              </a:rPr>
              <a:t>Работодатели часто избегают указания четких финансовых условий на ранних этапах, что порождает неэффективные отклики.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• </a:t>
            </a:r>
            <a:r>
              <a:rPr sz="1000" b="1">
                <a:solidFill>
                  <a:srgbClr val="FFFFFF"/>
                </a:solidFill>
                <a:latin typeface="Montserrat"/>
              </a:rPr>
              <a:t>Решение: </a:t>
            </a:r>
            <a:r>
              <a:rPr sz="1000">
                <a:solidFill>
                  <a:srgbClr val="E4E1ED"/>
                </a:solidFill>
                <a:latin typeface="Montserrat"/>
              </a:rPr>
              <a:t>Форма приглашения валидирует обе границы: нижняя и верхняя строго в RUB (верхняя &gt; нижней). Без вилки оффер сохранить невозможно.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233672"/>
            <a:ext cx="4855464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2D978"/>
                </a:solidFill>
                <a:latin typeface="JetBrains Mono"/>
              </a:defRPr>
            </a:pPr>
            <a:r>
              <a:t>ВЫЗОВ 03: КОРРЕКТНАЯ ПУСТАЯ ИСТОРИЯ ФСП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52D978"/>
                </a:solidFill>
                <a:latin typeface="Montserrat"/>
              </a:rPr>
              <a:t>• </a:t>
            </a:r>
            <a:r>
              <a:rPr sz="1000" b="1">
                <a:solidFill>
                  <a:srgbClr val="FFFFFF"/>
                </a:solidFill>
                <a:latin typeface="Montserrat"/>
              </a:rPr>
              <a:t>Проблема: </a:t>
            </a:r>
            <a:r>
              <a:rPr sz="1000">
                <a:solidFill>
                  <a:srgbClr val="E4E1ED"/>
                </a:solidFill>
                <a:latin typeface="Montserrat"/>
              </a:rPr>
              <a:t>У большинства ИТ-специалистов на начальном этапе отсутствуют официальные спортивные разряды и история соревнований ФСП.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• </a:t>
            </a:r>
            <a:r>
              <a:rPr sz="1000" b="1">
                <a:solidFill>
                  <a:srgbClr val="FFFFFF"/>
                </a:solidFill>
                <a:latin typeface="Montserrat"/>
              </a:rPr>
              <a:t>Решение: </a:t>
            </a:r>
            <a:r>
              <a:rPr sz="1000">
                <a:solidFill>
                  <a:srgbClr val="E4E1ED"/>
                </a:solidFill>
                <a:latin typeface="Montserrat"/>
              </a:rPr>
              <a:t>Стенд обрабатывает отсутствие истории ФСП как нормальное штатное состояние. Интерфейс не падает, а чисто отображает пустой реестр.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06908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4233672"/>
            <a:ext cx="4855464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F0053"/>
                </a:solidFill>
                <a:latin typeface="JetBrains Mono"/>
              </a:defRPr>
            </a:pPr>
            <a:r>
              <a:t>ВЫЗОВ 04: ЗАЩИТА ПЕРСОНАЛЬНЫХ ДАННЫХ (152-ФЗ)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000" b="1">
                <a:solidFill>
                  <a:srgbClr val="FFFFFF"/>
                </a:solidFill>
                <a:latin typeface="Montserrat"/>
              </a:rPr>
              <a:t>Проблема: </a:t>
            </a:r>
            <a:r>
              <a:rPr sz="1000">
                <a:solidFill>
                  <a:srgbClr val="E4E1ED"/>
                </a:solidFill>
                <a:latin typeface="Montserrat"/>
              </a:rPr>
              <a:t>Необходимость дать работодателю полную информацию для отбора без риска утечки прямых контактов соискателя.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• </a:t>
            </a:r>
            <a:r>
              <a:rPr sz="1000" b="1">
                <a:solidFill>
                  <a:srgbClr val="FFFFFF"/>
                </a:solidFill>
                <a:latin typeface="Montserrat"/>
              </a:rPr>
              <a:t>Решение: </a:t>
            </a:r>
            <a:r>
              <a:rPr sz="1000">
                <a:solidFill>
                  <a:srgbClr val="E4E1ED"/>
                </a:solidFill>
                <a:latin typeface="Montserrat"/>
              </a:rPr>
              <a:t>Шторка контактов: почта соискателя скрыта и отдается только после взаимного accept. 3 гибких чекбокса приватности (ФИО, стаж, ФСП).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ОБРАТНАЯ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Смена парадигмы: инициатива у работодателя, а не соискателя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ТЗ §2: Соискатель не тратит недели на спам откликов — работодатель отбирает подтвержденные анкеты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10728655" cy="1188720"/>
          </a:xfrm>
          <a:prstGeom prst="roundRect">
            <a:avLst/>
          </a:prstGeom>
          <a:solidFill>
            <a:srgbClr val="1F1B2B"/>
          </a:solidFill>
          <a:ln w="15240">
            <a:solidFill>
              <a:srgbClr val="8A8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3628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F0053"/>
                </a:solidFill>
                <a:latin typeface="JetBrains Mono"/>
              </a:defRPr>
            </a:pPr>
            <a:r>
              <a:t>СКВОЗНОЙ ПРОЦЕСС ОБРАТНОЙ МЕХАНИКИ:</a:t>
            </a:r>
          </a:p>
          <a:p>
            <a:pPr>
              <a:defRPr sz="1050" b="1">
                <a:solidFill>
                  <a:srgbClr val="FFFFFF"/>
                </a:solidFill>
                <a:latin typeface="Montserrat"/>
              </a:defRPr>
            </a:pPr>
            <a:r>
              <a:t>1. Соискатель подтверждает грейд тестом  ➔  2. Система синтезирует категорию и ранг  ➔  3. Работодатель формирует потребность  ➔  4. Оффер с обязательной RUB вилкой  ➔  5. Контакты открываются после согласия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3429000" cy="35204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44952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ПРАВИЛО 1: УПРАВЛЕНИЕ ПРИВАТНОСТЬЮ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Согласие на публикацию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Кандидат управляет видимостью профиля одной главной кнопкой публикации.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3 независимые настройки: скрыть ФИО, скрыть стаж, скрыть достижения ФСП.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Если галка снята — в карточке подборки отдается пустая строка, но ранжирование сохраняется.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Снятие публикации полностью исключает соискателя из поисковой выдачи работодателей.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880360"/>
            <a:ext cx="3429000" cy="35204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044952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8A83D1"/>
                </a:solidFill>
                <a:latin typeface="JetBrains Mono"/>
              </a:defRPr>
            </a:pPr>
            <a:r>
              <a:t>ПРАВИЛО 2: СТАТУСЫ И ПРОЗРАЧНОСТЬ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Воронка обратной связи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Каждое отправленное приглашение получает строгий жизненный цикл: sent ➔ seen ➔ accepted / rejected.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Статус 'seen' выставляется автоматически в момент первого открытия карточки кандидатом.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Работодатель видит факт прочтения своего оффера в реальном времени.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Кандидат видит компанию, текст оффера и рублевую зарплатную вилку сразу.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880360"/>
            <a:ext cx="3429000" cy="35204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044952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52D978"/>
                </a:solidFill>
                <a:latin typeface="JetBrains Mono"/>
              </a:defRPr>
            </a:pPr>
            <a:r>
              <a:t>ПРАВИЛО 3: ШТОРКА ПРЯМЫХ КОНТАКТОВ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Защита персональных данных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До принятия приглашения соискателем работодатель видит только обезличенный верифицированный профиль.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Email и прямые контакты передаются в кабинет компании только после нажатия кнопки 'Принять' кандидатом.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Исключает возможность спама, прямых холодных звонков и несанкционированного сбора баз данных кандидатов.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ФУНКЦИОНАЛЬНЫЕ СТОЛПЫ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Архитектурное разделение кабинетов и контуров интеграции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ТЗ §2.1: Единое пространство взаимодействия кандидатов, работодателей и спортивного реестра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34290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306324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СТОЛП 1</a:t>
            </a:r>
          </a:p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Montserrat"/>
              </a:defRPr>
            </a:pPr>
            <a:r>
              <a:t>КАБИНЕТ СОИСКАТЕЛЯ</a:t>
            </a:r>
          </a:p>
          <a:p>
            <a:pPr>
              <a:spcAft>
                <a:spcPts val="1000"/>
              </a:spcAft>
              <a:defRPr sz="950">
                <a:solidFill>
                  <a:srgbClr val="ACA7BA"/>
                </a:solidFill>
                <a:latin typeface="Montserrat"/>
              </a:defRPr>
            </a:pPr>
            <a:r>
              <a:t>Автономия и контроль квалификации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Авторизация по коду без парольной уязвимости и интеграция Keycloak SSO.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Заполнение профиля вручную или авторазбор PDF резюме с нормализацией стека.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Прохождение адаптивного IRT тестирования (12 вопросов) для подтверждения грейда.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Отображение официального спортивного разряда и турнирных баллов из реестра ФСП.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Центр входящих офферов: просмотр условий, зарплатных вилок, подтверждение или отказ.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4290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6324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8A83D1"/>
                </a:solidFill>
                <a:latin typeface="JetBrains Mono"/>
              </a:defRPr>
            </a:pPr>
            <a:r>
              <a:t>СТОЛП 2</a:t>
            </a:r>
          </a:p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Montserrat"/>
              </a:defRPr>
            </a:pPr>
            <a:r>
              <a:t>КАБИНЕТ РАБОТОДАТЕЛЯ</a:t>
            </a:r>
          </a:p>
          <a:p>
            <a:pPr>
              <a:spcAft>
                <a:spcPts val="1000"/>
              </a:spcAft>
              <a:defRPr sz="950">
                <a:solidFill>
                  <a:srgbClr val="ACA7BA"/>
                </a:solidFill>
                <a:latin typeface="Montserrat"/>
              </a:defRPr>
            </a:pPr>
            <a:r>
              <a:t>Умный скоринг и адресный наем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Создание потребности: указание роли, стека, формата работы и спортивного фильтра.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Умный ранжирующий движок evaluate_need с объяснением «почему подходит этот человек».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Поиск по банку кандидатов с фильтрами без жесткой привязки к категории.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Формирование оффера со строгой валидацией диапазона в рублях (RUB до вычета НДФЛ).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Трекинг воронки: sent (отправлено) ➔ seen (просмотрено) ➔ accepted (контакт открыт).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4290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91640"/>
            <a:ext cx="306324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52D978"/>
                </a:solidFill>
                <a:latin typeface="JetBrains Mono"/>
              </a:defRPr>
            </a:pPr>
            <a:r>
              <a:t>СТОЛП 3</a:t>
            </a:r>
          </a:p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Montserrat"/>
              </a:defRPr>
            </a:pPr>
            <a:r>
              <a:t>РЕЕСТР ФСП И БЕЗОПАСНОСТЬ</a:t>
            </a:r>
          </a:p>
          <a:p>
            <a:pPr>
              <a:spcAft>
                <a:spcPts val="1000"/>
              </a:spcAft>
              <a:defRPr sz="950">
                <a:solidFill>
                  <a:srgbClr val="ACA7BA"/>
                </a:solidFill>
                <a:latin typeface="Montserrat"/>
              </a:defRPr>
            </a:pPr>
            <a:r>
              <a:t>Верификация и защита данных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Мок-интеграция реестра Федерации спортивного программирования из версионируемого git.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Связка профиля кандидата с external_id в едином контуре авторизации.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Полная устойчивость к отсутствию спортивной истории (пустая история без падений).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Строгая изоляция ПДн: SQLite WAL на локальном стенде, хранение паролей Argon2.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Нулевая зависимость от внешних серверов и облачных провайдеров (100% offline).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МЕХАНИКА ТЕСТИРОВАНИЯ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Адаптивный движок IRT с защитой от угадывания и утечек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ТЗ §2: Тест устойчив к заучиванию ключей и дает сопоставимую сложность каждому соискателю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АРХИТЕКТУРА БАНКА И ВЫРАВНИВАНИЕ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216 вопросов, 288 семейств заданий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Каталог stems.py разбит по 9 вопросов на пару «специализация × грейд».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Длины вариантов ответов выровнены: верный ответ длиннее остальных лишь в 30% случаев.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Читерская стратегия «выбирай самый длинный ответ» дает не более 1% успеха.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Темы: refusal_contract, close_cause, offline_check и профильные алгоритмы.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73352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8A83D1"/>
                </a:solidFill>
                <a:latin typeface="JetBrains Mono"/>
              </a:defRPr>
            </a:pPr>
            <a:r>
              <a:t>ЕДИНЫЙ ПЛАН: 12 ВОПРОСОВ (3 / 6 / 3)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Сбалансированная матрица сложности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Каждый тест на грейд g содержит: 3 вопроса уровня ниже, 6 уровня g, 3 уровня выше.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У junior и lead недостающие слоты добираются своим уровнем без потери качества.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Темы и интегральная сложность одинаковы для всех, но порядок и вопросы уникальны.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Повторная сдача берет другие темы; частота показа вопросов выравнивается.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33672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52D978"/>
                </a:solidFill>
                <a:latin typeface="JetBrains Mono"/>
              </a:defRPr>
            </a:pPr>
            <a:r>
              <a:t>ФОРМАТ «ОЦЕНИТЕ КАЖДЫЙ ВАРИАНТ»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Вероятность угадать снижена с 1/3 до 1/8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Кандидат оценивает каждое из 3 утверждений: «верно» или «неверно».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Балл начисляется только если верны все 3 оценки: шанс угадать — 12.5% (1 из 8).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Варианты перемешиваются и получают одноразовые ID; буквы правильного ответа нет.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Ключ лежит строго на сервере в записи сессии test_attempts.form_json.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06908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33672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АДАПТИВНАЯ ОЦЕНКА IRT И ПОРОГИ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Осторожная стратегия подтверждения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Уровень θ рассчитывается по модели IRT с учетом индивидуальной сложности вопросов.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На границе грейдов (вероятность 15–85%) движок динамически добавляет до 3 блоков.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Грейд подтверждается при уверенности ≥ 60% (завысить грейд хуже, чем занизить).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При смене грейда учитываются накопленные ответы двух предыдущих попыток.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МАТЕМАТИЧЕСКАЯ ВАЛИДАЦИЯ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Матрица смежности и симуляция на 500 синтетических кандидатах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Строгое математическое подтверждение точности IRT-теста по сравнению с классическим опросником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08760"/>
          <a:ext cx="6858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1188720"/>
                <a:gridCol w="1188720"/>
                <a:gridCol w="1463040"/>
              </a:tblGrid>
              <a:tr h="6096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Грейд</a:t>
                      </a:r>
                    </a:p>
                  </a:txBody>
                  <a:tcPr>
                    <a:solidFill>
                      <a:srgbClr val="1F1B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0053"/>
                          </a:solidFill>
                          <a:latin typeface="Montserrat"/>
                        </a:defRPr>
                      </a:pPr>
                      <a:r>
                        <a:t>Совпало с истинным</a:t>
                      </a:r>
                    </a:p>
                  </a:txBody>
                  <a:tcPr>
                    <a:solidFill>
                      <a:srgbClr val="1F1B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Завышен</a:t>
                      </a:r>
                    </a:p>
                  </a:txBody>
                  <a:tcPr>
                    <a:solidFill>
                      <a:srgbClr val="1F1B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Занижен</a:t>
                      </a:r>
                    </a:p>
                  </a:txBody>
                  <a:tcPr>
                    <a:solidFill>
                      <a:srgbClr val="1F1B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Стабильность</a:t>
                      </a:r>
                    </a:p>
                  </a:txBody>
                  <a:tcPr>
                    <a:solidFill>
                      <a:srgbClr val="1F1B2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4E1ED"/>
                          </a:solidFill>
                          <a:latin typeface="Montserrat"/>
                        </a:defRPr>
                      </a:pPr>
                      <a:r>
                        <a:t>Junior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2D978"/>
                          </a:solidFill>
                          <a:latin typeface="JetBrains Mono"/>
                        </a:defRPr>
                      </a:pPr>
                      <a:r>
                        <a:t>79%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12%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69%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4E1ED"/>
                          </a:solidFill>
                          <a:latin typeface="Montserrat"/>
                        </a:defRPr>
                      </a:pPr>
                      <a:r>
                        <a:t>Middle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2D978"/>
                          </a:solidFill>
                          <a:latin typeface="JetBrains Mono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9%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75%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4E1ED"/>
                          </a:solidFill>
                          <a:latin typeface="Montserrat"/>
                        </a:defRPr>
                      </a:pPr>
                      <a:r>
                        <a:t>Senior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2D978"/>
                          </a:solidFill>
                          <a:latin typeface="JetBrains Mono"/>
                        </a:defRPr>
                      </a:pPr>
                      <a:r>
                        <a:t>84%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7%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9%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78%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E4E1ED"/>
                          </a:solidFill>
                          <a:latin typeface="Montserrat"/>
                        </a:defRPr>
                      </a:pPr>
                      <a:r>
                        <a:t>Lead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2D978"/>
                          </a:solidFill>
                          <a:latin typeface="JetBrains Mono"/>
                        </a:defRPr>
                      </a:pPr>
                      <a:r>
                        <a:t>68%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32%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E4E1ED"/>
                          </a:solidFill>
                          <a:latin typeface="JetBrains Mono"/>
                        </a:defRPr>
                      </a:pPr>
                      <a:r>
                        <a:t>71%</a:t>
                      </a:r>
                    </a:p>
                  </a:txBody>
                  <a:tcPr>
                    <a:solidFill>
                      <a:srgbClr val="251C3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Montserrat"/>
                        </a:defRPr>
                      </a:pPr>
                      <a:r>
                        <a:t>Среднее</a:t>
                      </a:r>
                    </a:p>
                  </a:txBody>
                  <a:tcPr>
                    <a:solidFill>
                      <a:srgbClr val="28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0053"/>
                          </a:solidFill>
                          <a:latin typeface="JetBrains Mono"/>
                        </a:defRPr>
                      </a:pPr>
                      <a:r>
                        <a:t>82% (79–84)</a:t>
                      </a:r>
                    </a:p>
                  </a:txBody>
                  <a:tcPr>
                    <a:solidFill>
                      <a:srgbClr val="28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JetBrains Mono"/>
                        </a:defRPr>
                      </a:pPr>
                      <a:r>
                        <a:t>8%</a:t>
                      </a:r>
                    </a:p>
                  </a:txBody>
                  <a:tcPr>
                    <a:solidFill>
                      <a:srgbClr val="28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JetBrains Mono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28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JetBrains Mono"/>
                        </a:defRPr>
                      </a:pPr>
                      <a:r>
                        <a:t>75%</a:t>
                      </a:r>
                    </a:p>
                  </a:txBody>
                  <a:tcPr>
                    <a:solidFill>
                      <a:srgbClr val="281E3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303520"/>
            <a:ext cx="6858000" cy="1097280"/>
          </a:xfrm>
          <a:prstGeom prst="roundRect">
            <a:avLst/>
          </a:prstGeom>
          <a:solidFill>
            <a:srgbClr val="1F1B2B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8A83D1"/>
                </a:solidFill>
                <a:latin typeface="JetBrains Mono"/>
              </a:defRPr>
            </a:pPr>
            <a:r>
              <a:t>АНАЛИТИЧЕСКИЙ ВЫВОД ИЗ СИМУЛЯЦИИ:</a:t>
            </a:r>
          </a:p>
          <a:p>
            <a:pPr>
              <a:defRPr sz="950">
                <a:solidFill>
                  <a:srgbClr val="E4E1ED"/>
                </a:solidFill>
                <a:latin typeface="Montserrat"/>
              </a:defRPr>
            </a:pPr>
            <a:r>
              <a:t>• Lead осторожен: Lead чаще получает Senior, чем наоборот — завысить хуже, чем занизить.</a:t>
            </a:r>
            <a:br/>
            <a:r>
              <a:t>• Ошибка на одну ступень: ни один кандидат не ошибся более чем на 1 уровень (0% cross-grade выбросов).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508760"/>
            <a:ext cx="3639312" cy="150876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1673352"/>
            <a:ext cx="365760" cy="36576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737360"/>
            <a:ext cx="3273552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0053"/>
                </a:solidFill>
                <a:latin typeface="JetBrains Mono"/>
              </a:defRPr>
            </a:pPr>
            <a:r>
              <a:t>92.7%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Точность среди «уверенно»</a:t>
            </a:r>
          </a:p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Целевой показатель платформы достигнут без зубрежки (мин. 91% — макс. 96%)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3154680"/>
            <a:ext cx="3639312" cy="150876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3319272"/>
            <a:ext cx="365760" cy="36576"/>
          </a:xfrm>
          <a:prstGeom prst="rect">
            <a:avLst/>
          </a:prstGeom>
          <a:solidFill>
            <a:srgbClr val="52D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3383280"/>
            <a:ext cx="3273552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52D978"/>
                </a:solidFill>
                <a:latin typeface="JetBrains Mono"/>
              </a:defRPr>
            </a:pPr>
            <a:r>
              <a:t>0%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Ошибок больше ступени</a:t>
            </a:r>
          </a:p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В эталоне ТЗ ошибка составляла 2.4%, в SpecTrack — строгий ноль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4800600"/>
            <a:ext cx="3639312" cy="160020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4965192"/>
            <a:ext cx="365760" cy="36576"/>
          </a:xfrm>
          <a:prstGeom prst="rect">
            <a:avLst/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029200"/>
            <a:ext cx="3273552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8A83D1"/>
                </a:solidFill>
                <a:latin typeface="JetBrains Mono"/>
              </a:defRPr>
            </a:pPr>
            <a:r>
              <a:t>5% vs 100%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Устойчивость к утечке ключа</a:t>
            </a:r>
          </a:p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Знание ключа b-c-a в эталоне давало 100% сдачи, в SpecTrack — лишь 5%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АРХИТЕКТУРА СИСТЕМЫ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Монолитная реализация и Zero-Cloud стандарты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ТЗ §3: Автономный рабочий процесс без тяжелых внешних сервисов, GPU и сторонних CDN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ZERO-CLOUD МОНОЛИТ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Python 3.12 • Jinja2 • htmx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Один контейнер, один процесс uvicorn с одним worker — максимальная стабильность стенда.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Реактивный интерфейс на локальном htmx: библиотека вшита в репозиторий, 0 CDN ссылок.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Кабинеты кандидата, работодателя и API живут в одном адресном пространстве.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Отсутствие Node.js, Webpack и React ускоряет сборку контейнера до нескольких секунд.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73352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8A83D1"/>
                </a:solidFill>
                <a:latin typeface="JetBrains Mono"/>
              </a:defRPr>
            </a:pPr>
            <a:r>
              <a:t>ХРАНИЛИЩЕ И ДАННЫЕ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SQLite WAL • Том стенда fsp-sqlite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Один файл базы данных в режиме Write-Ahead Logging (WAL) с единственным писателем.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Мок достижений ФСП читает JSON из репозитория и наполняет базу при старте.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Кабинеты, подбор и тесты обращаются к согласованным нормализованным таблицам.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Отсутствие внешней СУБД (Postgres/Redis) гарантирует нулевую вероятность сетевых сбоев.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33672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52D978"/>
                </a:solidFill>
                <a:latin typeface="JetBrains Mono"/>
              </a:defRPr>
            </a:pPr>
            <a:r>
              <a:t>БЕЗОПАСНОСТЬ И 152-ФЗ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Argon2 • Подписанные cookie-сессии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Хэширование паролей промышленным алгоритмом Argon2; защита от перебора.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Авторизационная сессия через защищенную cookie product_session.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Персональные данные (ФИО, почта, анкета) не покидают контур стенда (нет облачных AI).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Готовность интеграции с локальным Keycloak через external_id без смешивания контекстов.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069080"/>
            <a:ext cx="5257800" cy="233172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33672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API И ТЕСТОВОЕ ПОКРЫТИЕ</a:t>
            </a:r>
          </a:p>
          <a:p>
            <a:pPr>
              <a:spcAft>
                <a:spcPts val="6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31 OpenAPI эндпоинт • 125 тестов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Интерактивная документация /docs и схема в /api/openapi.json прямо на стенде.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125 автоматических тестов покрывают валидацию, скоринг, безопасность и кабинеты.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Разбор PDF через pypdf 6.19.0 и словарь синонимов без падений процесса.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Прогон валидации доступен жюри в один клик через GET /validation (ответ text/plain).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ДЕМОНСТРАЦИЯ • ШАГ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Регистрация и подтверждение входа соискателя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Быстрый вход без пароля: согласие на обработку данных и одноразовый проверочный код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01]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Форма регистрации и согласия 152-ФЗ</a:t>
            </a:r>
          </a:p>
        </p:txBody>
      </p:sp>
      <p:pic>
        <p:nvPicPr>
          <p:cNvPr id="8" name="Picture 7" descr="01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11680"/>
            <a:ext cx="49286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Соискатель указывает email, роль и подтверждает согласие на обработку персональных данных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02]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Ввод одноразового кода подтверждения</a:t>
            </a:r>
          </a:p>
        </p:txBody>
      </p:sp>
      <p:pic>
        <p:nvPicPr>
          <p:cNvPr id="12" name="Picture 11" descr="02-confirm-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011680"/>
            <a:ext cx="4928616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825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Для автономного стенда проверочный код отображается прямо в интерфейсе для удобства жюри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ДЕМОНСТРАЦИЯ • ШАГ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Профиль кандидата и подготовка к тестированию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Анкета, загрузка PDF резюме и карточка адаптивного теста на грейд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03]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Карточка профиля соискателя</a:t>
            </a:r>
          </a:p>
        </p:txBody>
      </p:sp>
      <p:pic>
        <p:nvPicPr>
          <p:cNvPr id="8" name="Picture 7" descr="03-profile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11680"/>
            <a:ext cx="49286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Отображение базовой информации, заявленного стека технологий и статуса готовности к подтверждению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04]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Карточка запуска адаптивного тестирования</a:t>
            </a:r>
          </a:p>
        </p:txBody>
      </p:sp>
      <p:pic>
        <p:nvPicPr>
          <p:cNvPr id="12" name="Picture 11" descr="05-test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011680"/>
            <a:ext cx="4928616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825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Выбор специализации и грейда, инструкция по механике «оцените каждый вариант» и правила попыток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ДЕМОНСТРАЦИЯ • ШАГ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Прохождение теста и фиксация верифицированной категории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Синтез категории backend:middle, оценка уверенности и позиция в грейде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05]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Кабинет с подтвержденной категорией</a:t>
            </a:r>
          </a:p>
        </p:txBody>
      </p:sp>
      <p:pic>
        <p:nvPicPr>
          <p:cNvPr id="8" name="Picture 7" descr="06-cabinet-categ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11680"/>
            <a:ext cx="49286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Уверенность 93%, подтвержденный статус middle, объяснение синтеза и управление 3 чекбоксами приватности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06]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Редактирование профиля и разбор PDF</a:t>
            </a:r>
          </a:p>
        </p:txBody>
      </p:sp>
      <p:pic>
        <p:nvPicPr>
          <p:cNvPr id="12" name="Picture 11" descr="03-profile-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011680"/>
            <a:ext cx="4928616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825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Возможность загрузить резюме без риска затирания подтвержденного тестом грейда квалификации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ДЕМОНСТРАЦИЯ • ШАГ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Интеграция с реестром спортивного программирования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Подтягивание официальных разрядов ФСП и корректная обработка пустой истории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07]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Профиль с подтвержденными разрядами ФСП</a:t>
            </a:r>
          </a:p>
        </p:txBody>
      </p:sp>
      <p:pic>
        <p:nvPicPr>
          <p:cNvPr id="8" name="Picture 7" descr="07b-fsp-synth-1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11680"/>
            <a:ext cx="49286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Несколько спортивных дисциплин, баллы турниров и разряды в топе профиля кандидата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08]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Штатная пустая история достижений ФСП</a:t>
            </a:r>
          </a:p>
        </p:txBody>
      </p:sp>
      <p:pic>
        <p:nvPicPr>
          <p:cNvPr id="12" name="Picture 11" descr="08-fsp-synth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011680"/>
            <a:ext cx="4928616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825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Отсутствие спортивной истории не приводит к ошибке: чистый интерфейс без ложных данных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ДЕМОНСТРАЦИЯ • ШАГ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Кабинет работодателя и умная подборка кандидатов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Ранжирование по 5 параметрам потребности с объяснением «почему подходит этот кандидат»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09]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Кабинет работодателя и форма потребности</a:t>
            </a:r>
          </a:p>
        </p:txBody>
      </p:sp>
      <p:pic>
        <p:nvPicPr>
          <p:cNvPr id="8" name="Picture 7" descr="09-employer-cabi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11680"/>
            <a:ext cx="49286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Фильтры специализации, грейда, стека технологий и признака достижений в спортивном программировании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10]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Карточка соискателя в выдаче подборки</a:t>
            </a:r>
          </a:p>
        </p:txBody>
      </p:sp>
      <p:pic>
        <p:nvPicPr>
          <p:cNvPr id="12" name="Picture 11" descr="10-shortlist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011680"/>
            <a:ext cx="4928616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825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Прозрачное обоснование релевантности, подтвержденный грейд и кнопка адресного приглашения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ДЕМОНСТРАЦИЯ • ШАГ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Формирование оффера и обязательная вилка в рублях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Защита соискателя от бессмысленных откликов: строгие границы зарплаты в первом же сообщении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11]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Форма создания оффера с вилкой RUB</a:t>
            </a:r>
          </a:p>
        </p:txBody>
      </p:sp>
      <p:pic>
        <p:nvPicPr>
          <p:cNvPr id="8" name="Picture 7" descr="11-offer-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11680"/>
            <a:ext cx="49286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Обязательное указание нижней и верхней границы в рублях; контакты компании видны соискателю сразу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12]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Карточка отправленного оффера (статус sent)</a:t>
            </a:r>
          </a:p>
        </p:txBody>
      </p:sp>
      <p:pic>
        <p:nvPicPr>
          <p:cNvPr id="12" name="Picture 11" descr="12-sent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011680"/>
            <a:ext cx="4928616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825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Оффер зафиксирован в системе; почта кандидата скрыта до подтверждения согласия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ДЕМОНСТРАЦИЯ • ШАГ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Воронка статусов и открытие контактов кандидата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Жизненный цикл: sent ➔ seen ➔ accepted. Почта передается работодателю только после согласия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13]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Фиксация прочтения соискателем (seen)</a:t>
            </a:r>
          </a:p>
        </p:txBody>
      </p:sp>
      <p:pic>
        <p:nvPicPr>
          <p:cNvPr id="8" name="Picture 7" descr="13-offer-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11680"/>
            <a:ext cx="49286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Работодатель видит, что кандидат ознакомился с условиями и зарплатной вилкой предложения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14]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Согласие соискателя и открытие контактов (accepted)</a:t>
            </a:r>
          </a:p>
        </p:txBody>
      </p:sp>
      <p:pic>
        <p:nvPicPr>
          <p:cNvPr id="12" name="Picture 11" descr="15-accept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011680"/>
            <a:ext cx="4928616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825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Шторка приватности снята: email кандидата отображается в карточке для прямого найма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ДЕМОНСТРАЦИЯ • ШАГ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Движок валидации и метрики на живом стенде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Доступность для жюри в один клик: прогон Golden Run и сбор системных метрик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15]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Прогон валидации golden_run (/validation)</a:t>
            </a:r>
          </a:p>
        </p:txBody>
      </p:sp>
      <p:pic>
        <p:nvPicPr>
          <p:cNvPr id="8" name="Picture 7" descr="16-validation-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11680"/>
            <a:ext cx="49286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Category match: 38/38, Outcome match: 72/72, Resume OK: 4/4 без обращения во внешнюю сеть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57800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618488"/>
            <a:ext cx="492861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FF0053"/>
                </a:solidFill>
                <a:latin typeface="JetBrains Mono"/>
              </a:rPr>
              <a:t>[ЭКРАН 16]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Сводные метрики стабильности стенда</a:t>
            </a:r>
          </a:p>
        </p:txBody>
      </p:sp>
      <p:pic>
        <p:nvPicPr>
          <p:cNvPr id="12" name="Picture 11" descr="16-metr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011680"/>
            <a:ext cx="4928616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82512" y="5980176"/>
            <a:ext cx="4928616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Быстрый ответ сервера, отсутствие GPU-нагрузки и полная воспроизводимость прогона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РАЗВЕРТЫВАНИЕ СТЕНДА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Запуск одной командой и автономность без облаков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ТЗ §3: Полная воспроизводимость на стенде жюри без внешних зависимостей и ключей API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10728655" cy="1280160"/>
          </a:xfrm>
          <a:prstGeom prst="roundRect">
            <a:avLst/>
          </a:prstGeom>
          <a:solidFill>
            <a:srgbClr val="1F1B2B"/>
          </a:solidFill>
          <a:ln w="15240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F0053"/>
                </a:solidFill>
                <a:latin typeface="JetBrains Mono"/>
              </a:defRPr>
            </a:pPr>
            <a:r>
              <a:t>КОМАНДА ЗАПУСКА НА СТЕНДЕ ЖЮРИ:</a:t>
            </a:r>
          </a:p>
          <a:p>
            <a:pPr>
              <a:spcAft>
                <a:spcPts val="400"/>
              </a:spcAft>
              <a:defRPr sz="1400" b="1">
                <a:solidFill>
                  <a:srgbClr val="FFFFFF"/>
                </a:solidFill>
                <a:latin typeface="JetBrains Mono"/>
              </a:defRPr>
            </a:pPr>
            <a:r>
              <a:t>docker compose -f deploy/fsp/compose.yaml up --build</a:t>
            </a:r>
          </a:p>
          <a:p>
            <a:pPr>
              <a:defRPr sz="1000">
                <a:solidFill>
                  <a:srgbClr val="52D978"/>
                </a:solidFill>
                <a:latin typeface="JetBrains Mono"/>
              </a:defRPr>
            </a:pPr>
            <a:r>
              <a:t>Кабинеты стенда: http://127.0.0.1:8000  •  OpenAPI спецификация: /docs  •  Схема: /api/openapi.json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3429000" cy="342900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0632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АВТОНОМНЫЙ ОБРАЗ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Zero Network Dependencies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Стенд требует только Docker Engine и плагин Compose.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Никаких обращений к внешним CDN: шрифты, htmx и стили вшиты в локальный репозиторий.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FF0053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Полная работоспособность в изолированном сетевом контуре без доступа в интернет.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971800"/>
            <a:ext cx="3429000" cy="342900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632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8A83D1"/>
                </a:solidFill>
                <a:latin typeface="JetBrains Mono"/>
              </a:defRPr>
            </a:pPr>
            <a:r>
              <a:t>АВТОГЕНЕРАЦИЯ СЕКРЕТА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PRODUCT_SECRET Guard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Стенд генерирует безопасный ключ PRODUCT_SECRET автоматически, если он не передан явно.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Строго соблюдается требование безопасности: длина ключа не менее 32 символов.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8A83D1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Подписанные cookie сессии гарантируют защиту от подделки идентификаторов пользователей.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971800"/>
            <a:ext cx="3429000" cy="342900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154680"/>
            <a:ext cx="30632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52D978"/>
                </a:solidFill>
                <a:latin typeface="JetBrains Mono"/>
              </a:defRPr>
            </a:pPr>
            <a:r>
              <a:t>ПРЕДУСТАНОВЛЕННЫЕ ДАННЫЕ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Git Seed &amp; SQLite WAL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Банк из 216 вопросов и 288 семейств инициализируется из локального репозитория.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Мок достижений ФСП заполняется при первом старте контейнера без сторонних запросов.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52D978"/>
                </a:solidFill>
                <a:latin typeface="Montserrat"/>
              </a:rPr>
              <a:t>• </a:t>
            </a:r>
            <a:r>
              <a:rPr sz="950">
                <a:solidFill>
                  <a:srgbClr val="E4E1ED"/>
                </a:solidFill>
                <a:latin typeface="Montserrat"/>
              </a:rPr>
              <a:t>База SQLite WAL надежно сохраняет все действия жюри в выделенном томе fsp-sqlite.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СЦЕНАРИЙ ДЛЯ ЖЮРИ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Пошаговый регламент проверки соответствия ТЗ за 5 шагов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Прозрачный и повторяемый сценарий живой демонстрации функционала на стенде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18488"/>
            <a:ext cx="10362895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F0053"/>
                </a:solidFill>
                <a:latin typeface="JetBrains Mono"/>
              </a:rPr>
              <a:t>[ШАГ 01]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Регистрация и подтверждение  —  </a:t>
            </a:r>
            <a:r>
              <a:rPr sz="1000">
                <a:solidFill>
                  <a:srgbClr val="ACA7BA"/>
                </a:solidFill>
                <a:latin typeface="Montserrat"/>
              </a:rPr>
              <a:t>Соискатель соглашается с 152-ФЗ, получает одноразовый код прямо на экране стенда и входит в систему без внешнего почтового сервиса.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0728655" cy="86868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362895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83D1"/>
                </a:solidFill>
                <a:latin typeface="JetBrains Mono"/>
              </a:rPr>
              <a:t>[ШАГ 02]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Анкета и адаптивный тест IRT  —  </a:t>
            </a:r>
            <a:r>
              <a:rPr sz="1000">
                <a:solidFill>
                  <a:srgbClr val="ACA7BA"/>
                </a:solidFill>
                <a:latin typeface="Montserrat"/>
              </a:rPr>
              <a:t>Заполняются стек и роль; соискатель сдает 12 вопросов единого плана 3/6/3 формата «оцените варианты» и получает подтвержденную категорию.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29000"/>
            <a:ext cx="10728655" cy="86868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38728"/>
            <a:ext cx="10362895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D978"/>
                </a:solidFill>
                <a:latin typeface="JetBrains Mono"/>
              </a:rPr>
              <a:t>[ШАГ 03]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Интеграция с реестром ФСП  —  </a:t>
            </a:r>
            <a:r>
              <a:rPr sz="1000">
                <a:solidFill>
                  <a:srgbClr val="ACA7BA"/>
                </a:solidFill>
                <a:latin typeface="Montserrat"/>
              </a:rPr>
              <a:t>Демонстрация двух соискателей: с подтвержденными спортивными дисциплинами и разрядами, и с чистой пустой историей без сбоев интерфейса.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89120"/>
            <a:ext cx="10728655" cy="86868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98848"/>
            <a:ext cx="10362895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F0053"/>
                </a:solidFill>
                <a:latin typeface="JetBrains Mono"/>
              </a:rPr>
              <a:t>[ШАГ 04]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Подбор и оффер с RUB вилкой  —  </a:t>
            </a:r>
            <a:r>
              <a:rPr sz="1000">
                <a:solidFill>
                  <a:srgbClr val="ACA7BA"/>
                </a:solidFill>
                <a:latin typeface="Montserrat"/>
              </a:rPr>
              <a:t>Работодатель создает потребность, видит соискателя в топе с обоснованием («почему подходит») и отправляет оффер с обязательной вилкой в рублях.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49240"/>
            <a:ext cx="10728655" cy="86868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58968"/>
            <a:ext cx="10362895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83D1"/>
                </a:solidFill>
                <a:latin typeface="JetBrains Mono"/>
              </a:rPr>
              <a:t>[ШАГ 05]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Прозрачность и открытие контактов  —  </a:t>
            </a:r>
            <a:r>
              <a:rPr sz="1000">
                <a:solidFill>
                  <a:srgbClr val="ACA7BA"/>
                </a:solidFill>
                <a:latin typeface="Montserrat"/>
              </a:rPr>
              <a:t>Соискатель видит оффер (статус sent ➔ seen). После нажатия кнопки «Принять» (accepted) работодатель получает прямой email кандидата.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0053"/>
                </a:solidFill>
                <a:latin typeface="JetBrains Mono"/>
              </a:defRPr>
            </a:pPr>
            <a:r>
              <a:t>ИТОГИ И ДОРОЖНАЯ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ontserrat"/>
              </a:defRPr>
            </a:pPr>
            <a:r>
              <a:t>Результаты хакатона и план развития платформы на 2026 год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ACA7BA"/>
                </a:solidFill>
                <a:latin typeface="Montserrat"/>
              </a:defRPr>
            </a:pPr>
            <a:r>
              <a:t>От проверенного прототипа к полноценному отраслевому сервису Федерации</a:t>
            </a:r>
          </a:p>
        </p:txBody>
      </p:sp>
      <p:pic>
        <p:nvPicPr>
          <p:cNvPr id="5" name="Picture 4" descr="logo-f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84048"/>
            <a:ext cx="11430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508760"/>
            <a:ext cx="2542032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91640"/>
            <a:ext cx="221284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52D978"/>
                </a:solidFill>
                <a:latin typeface="JetBrains Mono"/>
              </a:defRPr>
            </a:pPr>
            <a:r>
              <a:t>ЭТАП 01 (ВЫПОЛНЕНО)</a:t>
            </a:r>
          </a:p>
          <a:p>
            <a:pPr>
              <a:spcAft>
                <a:spcPts val="100"/>
              </a:spcAft>
              <a:defRPr sz="1150" b="1">
                <a:solidFill>
                  <a:srgbClr val="FFFFFF"/>
                </a:solidFill>
                <a:latin typeface="Montserrat"/>
              </a:defRPr>
            </a:pPr>
            <a:r>
              <a:t>MVP ХАКАТОНА</a:t>
            </a:r>
          </a:p>
          <a:p>
            <a:pPr>
              <a:spcAft>
                <a:spcPts val="800"/>
              </a:spcAft>
              <a:defRPr sz="950" b="1">
                <a:solidFill>
                  <a:srgbClr val="ACA7BA"/>
                </a:solidFill>
                <a:latin typeface="JetBrains Mono"/>
              </a:defRPr>
            </a:pPr>
            <a:r>
              <a:t>Q1 2026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52D978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Монолитная архитектура Python 3.12 + FastAPI + Jinja2/htmx.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52D978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Адаптивный IRT движок с банком на 216 вопросов и защитой от угадывания.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52D978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Математическая валидация на 500 кандидатах: 92.7% точность.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52D978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Полное покрытие ТЗ: обратная механика, RUB вилки, 152-ФЗ.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52D978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125 тестов, Docker Compose стенд 100% offline.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508760"/>
            <a:ext cx="2542032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691640"/>
            <a:ext cx="221284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FF0053"/>
                </a:solidFill>
                <a:latin typeface="JetBrains Mono"/>
              </a:defRPr>
            </a:pPr>
            <a:r>
              <a:t>ЭТАП 02</a:t>
            </a:r>
          </a:p>
          <a:p>
            <a:pPr>
              <a:spcAft>
                <a:spcPts val="100"/>
              </a:spcAft>
              <a:defRPr sz="1150" b="1">
                <a:solidFill>
                  <a:srgbClr val="FFFFFF"/>
                </a:solidFill>
                <a:latin typeface="Montserrat"/>
              </a:defRPr>
            </a:pPr>
            <a:r>
              <a:t>ИНТЕГРАЦИЯ С ФСП</a:t>
            </a:r>
          </a:p>
          <a:p>
            <a:pPr>
              <a:spcAft>
                <a:spcPts val="800"/>
              </a:spcAft>
              <a:defRPr sz="950" b="1">
                <a:solidFill>
                  <a:srgbClr val="ACA7BA"/>
                </a:solidFill>
                <a:latin typeface="JetBrains Mono"/>
              </a:defRPr>
            </a:pPr>
            <a:r>
              <a:t>Q2 2026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FF0053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Переход с мока на боевой REST API Федерации спортивного программирования.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FF0053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Автоматическая синхронизация протоколов всероссийских соревнований.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FF0053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Расширение банка тестовых заданий до 1000+ вопросов.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FF0053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Добавление новых форматов заданий: multi-choice, order, numeric.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508760"/>
            <a:ext cx="2542032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1691640"/>
            <a:ext cx="221284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8A83D1"/>
                </a:solidFill>
                <a:latin typeface="JetBrains Mono"/>
              </a:defRPr>
            </a:pPr>
            <a:r>
              <a:t>ЭТАП 03</a:t>
            </a:r>
          </a:p>
          <a:p>
            <a:pPr>
              <a:spcAft>
                <a:spcPts val="100"/>
              </a:spcAft>
              <a:defRPr sz="1150" b="1">
                <a:solidFill>
                  <a:srgbClr val="FFFFFF"/>
                </a:solidFill>
                <a:latin typeface="Montserrat"/>
              </a:defRPr>
            </a:pPr>
            <a:r>
              <a:t>КОРПОРАТИВНЫЙ КОНТУР</a:t>
            </a:r>
          </a:p>
          <a:p>
            <a:pPr>
              <a:spcAft>
                <a:spcPts val="800"/>
              </a:spcAft>
              <a:defRPr sz="950" b="1">
                <a:solidFill>
                  <a:srgbClr val="ACA7BA"/>
                </a:solidFill>
                <a:latin typeface="JetBrains Mono"/>
              </a:defRPr>
            </a:pPr>
            <a:r>
              <a:t>Q3 2026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8A83D1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Подключение внешних корпоративных провайдеров авторизации (Keycloak / LDAP).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8A83D1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Многопользовательские кабинеты для компаний: роли HR, TeamLead, CTO.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8A83D1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Аналитический дашборд воронки найма и времени закрытия вакансий.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8A83D1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Интеграция с внутренними ATS работодателей через вебхуки.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508760"/>
            <a:ext cx="2542032" cy="48920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1691640"/>
            <a:ext cx="221284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FF0053"/>
                </a:solidFill>
                <a:latin typeface="JetBrains Mono"/>
              </a:defRPr>
            </a:pPr>
            <a:r>
              <a:t>ЭТАП 04</a:t>
            </a:r>
          </a:p>
          <a:p>
            <a:pPr>
              <a:spcAft>
                <a:spcPts val="100"/>
              </a:spcAft>
              <a:defRPr sz="1150" b="1">
                <a:solidFill>
                  <a:srgbClr val="FFFFFF"/>
                </a:solidFill>
                <a:latin typeface="Montserrat"/>
              </a:defRPr>
            </a:pPr>
            <a:r>
              <a:t>ИИ-АССИСТЕНТ</a:t>
            </a:r>
          </a:p>
          <a:p>
            <a:pPr>
              <a:spcAft>
                <a:spcPts val="800"/>
              </a:spcAft>
              <a:defRPr sz="950" b="1">
                <a:solidFill>
                  <a:srgbClr val="ACA7BA"/>
                </a:solidFill>
                <a:latin typeface="JetBrains Mono"/>
              </a:defRPr>
            </a:pPr>
            <a:r>
              <a:t>Q4 2026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FF0053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Внедрение российской языковой модели в изолированном контуре.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FF0053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Автоматическая помощь в формулировании требований к вакансии.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FF0053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Генерация персональных рекомендаций соискателям по закрытию пробелов.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FF0053"/>
                </a:solidFill>
                <a:latin typeface="Montserrat"/>
              </a:rPr>
              <a:t>• </a:t>
            </a:r>
            <a:r>
              <a:rPr sz="919">
                <a:solidFill>
                  <a:srgbClr val="E4E1ED"/>
                </a:solidFill>
                <a:latin typeface="Montserrat"/>
              </a:rPr>
              <a:t>Предиктивная аналитика потребности в ИТ-кадрах для Федерации.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D2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inelin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94360"/>
            <a:ext cx="2560320" cy="3346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64592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  <a:latin typeface="Montserrat"/>
              </a:defRPr>
            </a:pPr>
            <a:r>
              <a:t>СПАСИБО ЗА ВНИМАНИЕ!</a:t>
            </a:r>
          </a:p>
          <a:p>
            <a:pPr>
              <a:defRPr sz="1400">
                <a:solidFill>
                  <a:srgbClr val="ACA7BA"/>
                </a:solidFill>
                <a:latin typeface="Montserrat"/>
              </a:defRPr>
            </a:pPr>
            <a:r>
              <a:t>Готовы ответить на любые технические и архитектурные вопросы жюри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6858000" cy="237744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0"/>
            <a:ext cx="6400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F0053"/>
                </a:solidFill>
                <a:latin typeface="JetBrains Mono"/>
              </a:defRPr>
            </a:pPr>
            <a:r>
              <a:t>КОНТАКТЫ И ИНФОРМАЦИЯ О ПРОЕКТЕ: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Капитан команды: </a:t>
            </a:r>
            <a:r>
              <a:rPr sz="1100">
                <a:solidFill>
                  <a:srgbClr val="E4E1ED"/>
                </a:solidFill>
                <a:latin typeface="Montserrat"/>
              </a:rPr>
              <a:t>Чистяков Евгений • echistyakov@aq.ru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8A83D1"/>
                </a:solidFill>
                <a:latin typeface="Montserrat"/>
              </a:rPr>
              <a:t>• </a:t>
            </a:r>
            <a:r>
              <a:rPr sz="1100" b="1">
                <a:solidFill>
                  <a:srgbClr val="FFFFFF"/>
                </a:solidFill>
                <a:latin typeface="Montserrat"/>
              </a:rPr>
              <a:t>Состав команды: </a:t>
            </a:r>
            <a:r>
              <a:rPr sz="1100">
                <a:solidFill>
                  <a:srgbClr val="E4E1ED"/>
                </a:solidFill>
                <a:latin typeface="Montserrat"/>
              </a:rPr>
              <a:t>Иван Курлыков, Леонид Пластуненко, Николай Кузнецов, Игорь Софронов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52D978"/>
                </a:solidFill>
                <a:latin typeface="Montserrat"/>
              </a:rPr>
              <a:t>• </a:t>
            </a:r>
            <a:r>
              <a:rPr sz="1100" b="1">
                <a:solidFill>
                  <a:srgbClr val="FFFFFF"/>
                </a:solidFill>
                <a:latin typeface="Montserrat"/>
              </a:rPr>
              <a:t>Лицензия: </a:t>
            </a:r>
            <a:r>
              <a:rPr sz="1100">
                <a:solidFill>
                  <a:srgbClr val="E4E1ED"/>
                </a:solidFill>
                <a:latin typeface="Montserrat"/>
              </a:rPr>
              <a:t>Открытый код (Open Source MIT / Apache-2.0)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• </a:t>
            </a:r>
            <a:r>
              <a:rPr sz="1100" b="1">
                <a:solidFill>
                  <a:srgbClr val="FFFFFF"/>
                </a:solidFill>
                <a:latin typeface="Montserrat"/>
              </a:rPr>
              <a:t>Стенд развернут: </a:t>
            </a:r>
            <a:r>
              <a:rPr sz="1100">
                <a:solidFill>
                  <a:srgbClr val="E4E1ED"/>
                </a:solidFill>
                <a:latin typeface="Montserrat"/>
              </a:rPr>
              <a:t>http://127.0.0.1:8000  •  Документация: /docs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413455" cy="137160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1810512"/>
            <a:ext cx="365760" cy="36576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74520"/>
            <a:ext cx="304769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FF0053"/>
                </a:solidFill>
                <a:latin typeface="JetBrains Mono"/>
              </a:defRPr>
            </a:pPr>
            <a:r>
              <a:t>38 / 38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Golden Run</a:t>
            </a:r>
          </a:p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Полное совпадение категорий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154680"/>
            <a:ext cx="3413455" cy="137160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3319272"/>
            <a:ext cx="365760" cy="36576"/>
          </a:xfrm>
          <a:prstGeom prst="rect">
            <a:avLst/>
          </a:prstGeom>
          <a:solidFill>
            <a:srgbClr val="52D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383280"/>
            <a:ext cx="304769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52D978"/>
                </a:solidFill>
                <a:latin typeface="JetBrains Mono"/>
              </a:defRPr>
            </a:pPr>
            <a:r>
              <a:t>92.7%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Точность IRT</a:t>
            </a:r>
          </a:p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Математическая надежность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663440"/>
            <a:ext cx="3413455" cy="1371600"/>
          </a:xfrm>
          <a:prstGeom prst="roundRect">
            <a:avLst/>
          </a:prstGeom>
          <a:solidFill>
            <a:srgbClr val="251C35"/>
          </a:solidFill>
          <a:ln w="15240">
            <a:solidFill>
              <a:srgbClr val="3E2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4828032"/>
            <a:ext cx="365760" cy="36576"/>
          </a:xfrm>
          <a:prstGeom prst="rect">
            <a:avLst/>
          </a:prstGeom>
          <a:solidFill>
            <a:srgbClr val="8A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4892040"/>
            <a:ext cx="3047695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8A83D1"/>
                </a:solidFill>
                <a:latin typeface="JetBrains Mono"/>
              </a:defRPr>
            </a:pPr>
            <a:r>
              <a:t>125 тестов</a:t>
            </a:r>
          </a:p>
          <a:p>
            <a:pPr>
              <a:spcAft>
                <a:spcPts val="200"/>
              </a:spcAft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Качество кода</a:t>
            </a:r>
          </a:p>
          <a:p>
            <a:pPr>
              <a:defRPr sz="950">
                <a:solidFill>
                  <a:srgbClr val="ACA7BA"/>
                </a:solidFill>
                <a:latin typeface="Montserrat"/>
              </a:defRPr>
            </a:pPr>
            <a:r>
              <a:t>100% автотестов стенда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