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?>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9"/>
  </p:notesMasterIdLst>
  <p:handoutMasterIdLst>
    <p:handoutMasterId r:id="rId40"/>
  </p:handoutMasterIdLst>
  <p:sldIdLst>
    <p:sldId id="365" r:id="rId8"/>
    <p:sldId id="366" r:id="rId9"/>
    <p:sldId id="362" r:id="rId10"/>
    <p:sldId id="364" r:id="rId11"/>
    <p:sldId id="375" r:id="rId12"/>
    <p:sldId id="369" r:id="rId13"/>
    <p:sldId id="372" r:id="rId14"/>
    <p:sldId id="373" r:id="rId15"/>
    <p:sldId id="370" r:id="rId16"/>
    <p:sldId id="371" r:id="rId17"/>
    <p:sldId id="374" r:id="rId18"/>
    <p:sldId id="260" r:id="rId19"/>
    <p:sldId id="261" r:id="rId20"/>
    <p:sldId id="262" r:id="rId21"/>
    <p:sldId id="263" r:id="rId22"/>
    <p:sldId id="266" r:id="rId23"/>
    <p:sldId id="267" r:id="rId26"/>
  </p:sldIdLst>
  <p:sldSz cx="12192000" cy="6858000"/>
  <p:notesSz cx="6858000" cy="9144000"/>
  <p:defaultTextStyle>
    <a:defPPr>
      <a:defRPr lang="ru-RU"/>
    </a:defPPr>
    <a:lvl1pPr marL="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Информация" id="{9FA27940-A45B-471D-96EC-3FCE80AE8A9B}">
          <p14:sldIdLst>
            <p14:sldId id="333"/>
            <p14:sldId id="326"/>
            <p14:sldId id="327"/>
            <p14:sldId id="367"/>
            <p14:sldId id="325"/>
            <p14:sldId id="355"/>
          </p14:sldIdLst>
        </p14:section>
        <p14:section name="Обязательные слайды" id="{248E5CD8-1028-4246-90C7-3263F7F286D3}">
          <p14:sldIdLst>
            <p14:sldId id="365"/>
            <p14:sldId id="366"/>
            <p14:sldId id="362"/>
            <p14:sldId id="364"/>
            <p14:sldId id="375"/>
          </p14:sldIdLst>
        </p14:section>
        <p14:section name="Шаблоны слайдов" id="{24401F80-F81B-49C3-8D55-70A14F0BF8FF}">
          <p14:sldIdLst>
            <p14:sldId id="369"/>
            <p14:sldId id="372"/>
            <p14:sldId id="373"/>
            <p14:sldId id="370"/>
            <p14:sldId id="371"/>
            <p14:sldId id="374"/>
            <p14:sldId id="260"/>
            <p14:sldId id="261"/>
            <p14:sldId id="262"/>
            <p14:sldId id="263"/>
            <p14:sldId id="266"/>
            <p14:sldId id="264"/>
            <p14:sldId id="268"/>
            <p14:sldId id="267"/>
            <p14:sldId id="269"/>
            <p14:sldId id="270"/>
            <p14:sldId id="271"/>
            <p14:sldId id="272"/>
          </p14:sldIdLst>
        </p14:section>
        <p14:section name="Материалы" id="{0F84D0DE-CEB1-417E-B269-8B3EB04B5FA6}">
          <p14:sldIdLst>
            <p14:sldId id="338"/>
            <p14:sldId id="368"/>
            <p14:sldId id="341"/>
            <p14:sldId id="342"/>
            <p14:sldId id="343"/>
            <p14:sldId id="344"/>
            <p14:sldId id="346"/>
            <p14:sldId id="357"/>
          </p14:sldIdLst>
        </p14:section>
      </p14:sectionLst>
    </p:ext>
    <p:ext uri="{EFAFB233-063F-42B5-8137-9DF3F51BA10A}">
      <p15:sldGuideLst xmlns:p15="http://schemas.microsoft.com/office/powerpoint/2012/main">
        <p15:guide id="2" pos="597" userDrawn="1">
          <p15:clr>
            <a:srgbClr val="A4A3A4"/>
          </p15:clr>
        </p15:guide>
        <p15:guide id="3" pos="3591" userDrawn="1">
          <p15:clr>
            <a:srgbClr val="A4A3A4"/>
          </p15:clr>
        </p15:guide>
        <p15:guide id="4" pos="5496" userDrawn="1">
          <p15:clr>
            <a:srgbClr val="A4A3A4"/>
          </p15:clr>
        </p15:guide>
        <p15:guide id="5" pos="4112" userDrawn="1">
          <p15:clr>
            <a:srgbClr val="A4A3A4"/>
          </p15:clr>
        </p15:guide>
        <p15:guide id="6" pos="393" userDrawn="1">
          <p15:clr>
            <a:srgbClr val="A4A3A4"/>
          </p15:clr>
        </p15:guide>
        <p15:guide id="7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CEE4"/>
    <a:srgbClr val="FFD6E3"/>
    <a:srgbClr val="FFFFFF"/>
    <a:srgbClr val="753A93"/>
    <a:srgbClr val="976BAE"/>
    <a:srgbClr val="F92571"/>
    <a:srgbClr val="8226E3"/>
    <a:srgbClr val="2D1451"/>
    <a:srgbClr val="222A35"/>
    <a:srgbClr val="55D4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563" autoAdjust="0"/>
    <p:restoredTop sz="95857"/>
  </p:normalViewPr>
  <p:slideViewPr>
    <p:cSldViewPr snapToGrid="0" showGuides="1">
      <p:cViewPr varScale="1">
        <p:scale>
          <a:sx n="91" d="100"/>
          <a:sy n="91" d="100"/>
        </p:scale>
        <p:origin x="200" y="632"/>
      </p:cViewPr>
      <p:guideLst>
        <p:guide pos="597"/>
        <p:guide pos="3591"/>
        <p:guide pos="5496"/>
        <p:guide pos="4112"/>
        <p:guide pos="393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928" y="208"/>
      </p:cViewPr>
      <p:guideLst/>
    </p:cSldViewPr>
  </p:notesViewPr>
  <p:gridSpacing cx="72008" cy="72008"/>
</p:viewPr>
</file>

<file path=ppt/_rels/presentation.xml.rels><?xml version="1.0" encoding="UTF-8"?>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42" Type="http://schemas.openxmlformats.org/officeDocument/2006/relationships/viewProps" Target="viewProps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11" Type="http://schemas.openxmlformats.org/officeDocument/2006/relationships/slide" Target="slides/slide10.xml"/><Relationship Id="rId40" Type="http://schemas.openxmlformats.org/officeDocument/2006/relationships/handoutMaster" Target="handoutMasters/handoutMaster1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4" Type="http://schemas.openxmlformats.org/officeDocument/2006/relationships/tableStyles" Target="tableStyles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12" Type="http://schemas.openxmlformats.org/officeDocument/2006/relationships/slide" Target="slides/slide11.xml"/><Relationship Id="rId17" Type="http://schemas.openxmlformats.org/officeDocument/2006/relationships/slide" Target="slides/slide16.xml"/></Relationships>
</file>

<file path=ppt/charts/_rels/chart1.xml.rels><?xml version="1.0" encoding="UTF-8"?><Relationships xmlns="http://schemas.openxmlformats.org/package/2006/relationships"><Relationship Id="rId3" Type="http://schemas.openxmlformats.org/officeDocument/2006/relationships/package" Target="../embeddings/_____Microsoft_Excel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?><Relationships xmlns="http://schemas.openxmlformats.org/package/2006/relationships"><Relationship Id="rId3" Type="http://schemas.openxmlformats.org/officeDocument/2006/relationships/package" Target="../embeddings/_____Microsoft_Excel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5.1688300241682354E-2"/>
          <c:y val="0.12693525390367644"/>
          <c:w val="0.92608602339057544"/>
          <c:h val="0.66747142271661164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Ряд 1</c:v>
                </c:pt>
              </c:strCache>
            </c:strRef>
          </c:tx>
          <c:spPr>
            <a:solidFill>
              <a:schemeClr val="accent1"/>
            </a:solidFill>
            <a:ln w="63500">
              <a:noFill/>
            </a:ln>
            <a:effectLst/>
          </c:spPr>
          <c:invertIfNegative val="0"/>
          <c:cat>
            <c:numRef>
              <c:f>Лист1!$A$2:$A$5</c:f>
              <c:numCache>
                <c:formatCode>General</c:formatCode>
                <c:ptCount val="4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</c:numCache>
            </c:numRef>
          </c:cat>
          <c:val>
            <c:numRef>
              <c:f>Лист1!$B$2:$B$5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E86-41F6-8A85-7879D9C60F88}"/>
            </c:ext>
          </c:extLst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Ряд 2</c:v>
                </c:pt>
              </c:strCache>
            </c:strRef>
          </c:tx>
          <c:spPr>
            <a:solidFill>
              <a:schemeClr val="accent2"/>
            </a:solidFill>
            <a:ln w="63500">
              <a:noFill/>
            </a:ln>
            <a:effectLst/>
          </c:spPr>
          <c:invertIfNegative val="0"/>
          <c:cat>
            <c:numRef>
              <c:f>Лист1!$A$2:$A$5</c:f>
              <c:numCache>
                <c:formatCode>General</c:formatCode>
                <c:ptCount val="4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</c:numCache>
            </c:numRef>
          </c:cat>
          <c:val>
            <c:numRef>
              <c:f>Лист1!$C$2:$C$5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AE86-41F6-8A85-7879D9C60F8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overlap val="-20"/>
        <c:axId val="1688540351"/>
        <c:axId val="1173587135"/>
      </c:barChart>
      <c:catAx>
        <c:axId val="168854035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173587135"/>
        <c:crosses val="autoZero"/>
        <c:auto val="1"/>
        <c:lblAlgn val="ctr"/>
        <c:lblOffset val="100"/>
        <c:noMultiLvlLbl val="0"/>
      </c:catAx>
      <c:valAx>
        <c:axId val="1173587135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bg1">
                  <a:alpha val="50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688540351"/>
        <c:crosses val="autoZero"/>
        <c:crossBetween val="between"/>
        <c:majorUnit val="1"/>
      </c:valAx>
      <c:spPr>
        <a:noFill/>
        <a:ln w="25400">
          <a:noFill/>
        </a:ln>
        <a:effectLst/>
      </c:spPr>
    </c:plotArea>
    <c:legend>
      <c:legendPos val="b"/>
      <c:layout>
        <c:manualLayout>
          <c:xMode val="edge"/>
          <c:yMode val="edge"/>
          <c:x val="3.0340673321854045E-2"/>
          <c:y val="0.93820074285734689"/>
          <c:w val="0.94740055839426573"/>
          <c:h val="6.1799257142653129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bg1"/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solidFill>
            <a:schemeClr val="bg1"/>
          </a:solidFill>
        </a:defRPr>
      </a:pPr>
      <a:endParaRPr lang="ru-RU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1353261129492993"/>
          <c:y val="0.12693525390367644"/>
          <c:w val="0.86424170750053264"/>
          <c:h val="0.66747142271661164"/>
        </c:manualLayout>
      </c:layout>
      <c:barChart>
        <c:barDir val="bar"/>
        <c:grouping val="clustered"/>
        <c:varyColors val="0"/>
        <c:ser>
          <c:idx val="1"/>
          <c:order val="0"/>
          <c:tx>
            <c:strRef>
              <c:f>Лист1!$C$1</c:f>
              <c:strCache>
                <c:ptCount val="1"/>
                <c:pt idx="0">
                  <c:v>Ряд 2</c:v>
                </c:pt>
              </c:strCache>
            </c:strRef>
          </c:tx>
          <c:spPr>
            <a:solidFill>
              <a:schemeClr val="accent2"/>
            </a:solidFill>
            <a:ln w="63500">
              <a:solidFill>
                <a:schemeClr val="accent2"/>
              </a:solidFill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chemeClr val="accent2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92C0-E743-BC6B-AB142BB83263}"/>
              </c:ext>
            </c:extLst>
          </c:dPt>
          <c:dPt>
            <c:idx val="1"/>
            <c:invertIfNegative val="0"/>
            <c:bubble3D val="0"/>
            <c:spPr>
              <a:solidFill>
                <a:schemeClr val="accent4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B35E-4C45-8CA2-C11611997942}"/>
              </c:ext>
            </c:extLst>
          </c:dPt>
          <c:dPt>
            <c:idx val="2"/>
            <c:invertIfNegative val="0"/>
            <c:bubble3D val="0"/>
            <c:spPr>
              <a:solidFill>
                <a:schemeClr val="accent5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B35E-4C45-8CA2-C11611997942}"/>
              </c:ext>
            </c:extLst>
          </c:dPt>
          <c:dPt>
            <c:idx val="3"/>
            <c:invertIfNegative val="0"/>
            <c:bubble3D val="0"/>
            <c:spPr>
              <a:solidFill>
                <a:schemeClr val="accent1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B35E-4C45-8CA2-C11611997942}"/>
              </c:ext>
            </c:extLst>
          </c:dPt>
          <c:cat>
            <c:numRef>
              <c:f>Лист1!$A$2:$A$5</c:f>
              <c:numCache>
                <c:formatCode>General</c:formatCode>
                <c:ptCount val="4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</c:numCache>
            </c:numRef>
          </c:cat>
          <c:val>
            <c:numRef>
              <c:f>Лист1!$C$2:$C$5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B35E-4C45-8CA2-C1161199794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axId val="1688540351"/>
        <c:axId val="1173587135"/>
      </c:barChart>
      <c:catAx>
        <c:axId val="168854035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173587135"/>
        <c:crosses val="autoZero"/>
        <c:auto val="1"/>
        <c:lblAlgn val="ctr"/>
        <c:lblOffset val="100"/>
        <c:noMultiLvlLbl val="0"/>
      </c:catAx>
      <c:valAx>
        <c:axId val="1173587135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alpha val="50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688540351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solidFill>
            <a:schemeClr val="tx1"/>
          </a:solidFill>
        </a:defRPr>
      </a:pPr>
      <a:endParaRPr lang="ru-R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?>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1C361405-0046-9D03-26A4-D7ED10EA70C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56CD2AD-A19E-4074-721F-6DBCBE680A4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E30D66-5BAA-C245-AD36-181B8EC875DB}" type="datetimeFigureOut">
              <a:rPr lang="ru-RU" smtClean="0"/>
              <a:t>02.10.2026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41947EE2-63DA-C2A1-5495-30E370423A5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752603B-A0BC-AAAA-B5D6-B44F54E18AB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D7201F-1F39-2140-9B4A-3BC1B61B40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66286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A401BA-3150-4FF7-8D13-C8A64268AC63}" type="datetimeFigureOut">
              <a:rPr lang="ru-RU" smtClean="0"/>
              <a:t>02.10.2026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5F3B14-7AC8-406F-A299-37D374056E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64453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CF317-460F-D66A-6ACF-27061C9DF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2D066F97-A6A0-B747-71F9-577306DB29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0F9F05F-4377-CED9-7FF7-AADFCC58E4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18DC8F5-67F2-F257-7833-1FEA7A6F23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453272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E69046-74A9-6BC0-030F-AF9856808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E235548D-D889-0AAA-F16C-FBBD8FABB9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62BED857-8CFB-C4D0-8AA7-4E459CD5CA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80FF5E7-0C77-0F13-CEBC-1525084DF8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285682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28479207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Иконка задачи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DEF1F2D-30AB-40F9-9975-F952E50B7FC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4323440"/>
            <a:ext cx="8930641" cy="827011"/>
          </a:xfr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НАЗВАНИЕ КОМАНДЫ</a:t>
            </a:r>
          </a:p>
        </p:txBody>
      </p:sp>
      <p:sp>
        <p:nvSpPr>
          <p:cNvPr id="42" name="Рисунок 41">
            <a:extLst>
              <a:ext uri="{FF2B5EF4-FFF2-40B4-BE49-F238E27FC236}">
                <a16:creationId xmlns:a16="http://schemas.microsoft.com/office/drawing/2014/main" id="{37DC0E9B-2679-408D-851C-F21F4ACC673A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Логотип/логотипы постановщика задачи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3F843A1-4640-4AAD-9DA4-206FA9FF2A4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0" y="5149851"/>
            <a:ext cx="8930641" cy="757174"/>
          </a:xfr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r>
              <a:rPr lang="ru-RU" sz="1600" b="0" dirty="0"/>
              <a:t>Номер и название задачи</a:t>
            </a:r>
          </a:p>
        </p:txBody>
      </p:sp>
    </p:spTree>
    <p:extLst>
      <p:ext uri="{BB962C8B-B14F-4D97-AF65-F5344CB8AC3E}">
        <p14:creationId xmlns:p14="http://schemas.microsoft.com/office/powerpoint/2010/main" val="23497694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Описание команд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Фото команды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CA6654-BEE5-24C9-BC9D-BB6D2E0BEF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</p:spTree>
    <p:extLst>
      <p:ext uri="{BB962C8B-B14F-4D97-AF65-F5344CB8AC3E}">
        <p14:creationId xmlns:p14="http://schemas.microsoft.com/office/powerpoint/2010/main" val="16629505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Команд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67EB9651-F031-4963-AFE9-33BCC0E88757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45" name="Заголовок 1">
            <a:extLst>
              <a:ext uri="{FF2B5EF4-FFF2-40B4-BE49-F238E27FC236}">
                <a16:creationId xmlns:a16="http://schemas.microsoft.com/office/drawing/2014/main" id="{DD9DB7EE-83C4-47FA-86C2-BDA70A0531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  <p:sp>
        <p:nvSpPr>
          <p:cNvPr id="47" name="Текст 35">
            <a:extLst>
              <a:ext uri="{FF2B5EF4-FFF2-40B4-BE49-F238E27FC236}">
                <a16:creationId xmlns:a16="http://schemas.microsoft.com/office/drawing/2014/main" id="{FACA3955-006D-424E-AF29-FC0EE3BE860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49" name="Текст 35">
            <a:extLst>
              <a:ext uri="{FF2B5EF4-FFF2-40B4-BE49-F238E27FC236}">
                <a16:creationId xmlns:a16="http://schemas.microsoft.com/office/drawing/2014/main" id="{D134429E-1F41-4952-92F7-E1A3625ABBD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1" name="Текст 35">
            <a:extLst>
              <a:ext uri="{FF2B5EF4-FFF2-40B4-BE49-F238E27FC236}">
                <a16:creationId xmlns:a16="http://schemas.microsoft.com/office/drawing/2014/main" id="{62B71317-1166-483E-8736-3204197AE64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3" name="Текст 35">
            <a:extLst>
              <a:ext uri="{FF2B5EF4-FFF2-40B4-BE49-F238E27FC236}">
                <a16:creationId xmlns:a16="http://schemas.microsoft.com/office/drawing/2014/main" id="{FE441C73-4DA4-470D-B9C8-52D6075710B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5" name="Текст 35">
            <a:extLst>
              <a:ext uri="{FF2B5EF4-FFF2-40B4-BE49-F238E27FC236}">
                <a16:creationId xmlns:a16="http://schemas.microsoft.com/office/drawing/2014/main" id="{8792BADF-06A6-41F5-BB39-A425B78E145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</p:spTree>
    <p:extLst>
      <p:ext uri="{BB962C8B-B14F-4D97-AF65-F5344CB8AC3E}">
        <p14:creationId xmlns:p14="http://schemas.microsoft.com/office/powerpoint/2010/main" val="21874350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 заголовк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Дата 3">
            <a:extLst>
              <a:ext uri="{FF2B5EF4-FFF2-40B4-BE49-F238E27FC236}">
                <a16:creationId xmlns:a16="http://schemas.microsoft.com/office/drawing/2014/main" id="{1BE2B7EA-895D-4C57-B021-3ADF48C598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1021F813-DBA1-42EC-A748-A9CC16659E6B}" type="datetime1">
              <a:rPr lang="ru-RU" smtClean="0"/>
              <a:t>02.10.2026</a:t>
            </a:fld>
            <a:endParaRPr lang="ru-RU"/>
          </a:p>
        </p:txBody>
      </p:sp>
      <p:sp>
        <p:nvSpPr>
          <p:cNvPr id="10" name="Нижний колонтитул 4">
            <a:extLst>
              <a:ext uri="{FF2B5EF4-FFF2-40B4-BE49-F238E27FC236}">
                <a16:creationId xmlns:a16="http://schemas.microsoft.com/office/drawing/2014/main" id="{8A502BD2-9512-4029-B654-E898F0583F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id="{E6724899-9B39-4945-8292-0304D1DFF6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664328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Текст 2">
            <a:extLst>
              <a:ext uri="{FF2B5EF4-FFF2-40B4-BE49-F238E27FC236}">
                <a16:creationId xmlns:a16="http://schemas.microsoft.com/office/drawing/2014/main" id="{35915C91-9468-44E0-9A6A-47C151E1C5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21" name="Дата 3">
            <a:extLst>
              <a:ext uri="{FF2B5EF4-FFF2-40B4-BE49-F238E27FC236}">
                <a16:creationId xmlns:a16="http://schemas.microsoft.com/office/drawing/2014/main" id="{6043336A-E468-4FC7-B11B-D72F244391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7DE2642A-6018-4CC1-81AB-5FD8D2782D4F}" type="datetime1">
              <a:rPr lang="ru-RU" smtClean="0"/>
              <a:t>02.10.2026</a:t>
            </a:fld>
            <a:endParaRPr lang="ru-RU"/>
          </a:p>
        </p:txBody>
      </p:sp>
      <p:sp>
        <p:nvSpPr>
          <p:cNvPr id="22" name="Нижний колонтитул 4">
            <a:extLst>
              <a:ext uri="{FF2B5EF4-FFF2-40B4-BE49-F238E27FC236}">
                <a16:creationId xmlns:a16="http://schemas.microsoft.com/office/drawing/2014/main" id="{49E78A2F-D265-4D7D-BF63-75BF9ACF92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3" name="Номер слайда 5">
            <a:extLst>
              <a:ext uri="{FF2B5EF4-FFF2-40B4-BE49-F238E27FC236}">
                <a16:creationId xmlns:a16="http://schemas.microsoft.com/office/drawing/2014/main" id="{25A0EB89-1F02-40E6-9D89-EAA34874BF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4" name="Заголовок 1">
            <a:extLst>
              <a:ext uri="{FF2B5EF4-FFF2-40B4-BE49-F238E27FC236}">
                <a16:creationId xmlns:a16="http://schemas.microsoft.com/office/drawing/2014/main" id="{D3BCB09B-B5ED-4308-BCBC-7DB6BF7E0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468899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DE4079CB-26E5-4E7E-8375-84F4748448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15387" y="1016001"/>
            <a:ext cx="5704418" cy="518477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0B9B70F-56BE-4BFF-9AF1-3E24439A89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6" y="1016001"/>
            <a:ext cx="5670473" cy="5184774"/>
          </a:xfrm>
        </p:spPr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14" name="Дата 3">
            <a:extLst>
              <a:ext uri="{FF2B5EF4-FFF2-40B4-BE49-F238E27FC236}">
                <a16:creationId xmlns:a16="http://schemas.microsoft.com/office/drawing/2014/main" id="{A4424B46-3BA8-41B1-9808-8558C0F0E6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3014BBE-C503-4380-A869-5EE8294FE947}" type="datetime1">
              <a:rPr lang="ru-RU" smtClean="0"/>
              <a:t>02.10.2026</a:t>
            </a:fld>
            <a:endParaRPr lang="ru-RU"/>
          </a:p>
        </p:txBody>
      </p:sp>
      <p:sp>
        <p:nvSpPr>
          <p:cNvPr id="15" name="Нижний колонтитул 4">
            <a:extLst>
              <a:ext uri="{FF2B5EF4-FFF2-40B4-BE49-F238E27FC236}">
                <a16:creationId xmlns:a16="http://schemas.microsoft.com/office/drawing/2014/main" id="{4D73747B-1894-47A4-9E8B-797D1562EA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6" name="Номер слайда 5">
            <a:extLst>
              <a:ext uri="{FF2B5EF4-FFF2-40B4-BE49-F238E27FC236}">
                <a16:creationId xmlns:a16="http://schemas.microsoft.com/office/drawing/2014/main" id="{0C3B5973-5E99-43F7-82C6-8E450D7A98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7" name="Заголовок 1">
            <a:extLst>
              <a:ext uri="{FF2B5EF4-FFF2-40B4-BE49-F238E27FC236}">
                <a16:creationId xmlns:a16="http://schemas.microsoft.com/office/drawing/2014/main" id="{96698D82-4C1C-4876-84CF-285AAC910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158693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D286EEAA-87D1-47A5-B9C0-E5BAD703F0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A2D29F1-B583-4C98-B07B-171DC3552B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49334" y="1598615"/>
            <a:ext cx="5648250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E6D3064-465D-4982-AF9F-41FF98FCBF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960E92CA-C4D7-4946-B437-9FCD4AA313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1598615"/>
            <a:ext cx="5670473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2" name="Дата 3">
            <a:extLst>
              <a:ext uri="{FF2B5EF4-FFF2-40B4-BE49-F238E27FC236}">
                <a16:creationId xmlns:a16="http://schemas.microsoft.com/office/drawing/2014/main" id="{50BC46DB-57AA-4551-8F67-742F842E120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D568497-304A-497F-ADAE-97D3CF462C1C}" type="datetime1">
              <a:rPr lang="ru-RU" smtClean="0"/>
              <a:t>02.10.2026</a:t>
            </a:fld>
            <a:endParaRPr lang="ru-RU"/>
          </a:p>
        </p:txBody>
      </p:sp>
      <p:sp>
        <p:nvSpPr>
          <p:cNvPr id="13" name="Нижний колонтитул 4">
            <a:extLst>
              <a:ext uri="{FF2B5EF4-FFF2-40B4-BE49-F238E27FC236}">
                <a16:creationId xmlns:a16="http://schemas.microsoft.com/office/drawing/2014/main" id="{F2048DE5-D653-4BDE-8495-A22EF4A50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4" name="Номер слайда 5">
            <a:extLst>
              <a:ext uri="{FF2B5EF4-FFF2-40B4-BE49-F238E27FC236}">
                <a16:creationId xmlns:a16="http://schemas.microsoft.com/office/drawing/2014/main" id="{E0E8C4D1-B7B4-4A6B-87A1-354341CD6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5" name="Заголовок 1">
            <a:extLst>
              <a:ext uri="{FF2B5EF4-FFF2-40B4-BE49-F238E27FC236}">
                <a16:creationId xmlns:a16="http://schemas.microsoft.com/office/drawing/2014/main" id="{B533CD5F-4B3E-426C-9977-6EFBE36EE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4494714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2CB240C-04A3-49D4-83F9-87A9C6C414DC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55138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799615-B88F-452A-A6CA-6793B83165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B30D2CC-2D7F-43FF-B9B4-355F7E4643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73"/>
            </a:lvl1pPr>
            <a:lvl2pPr>
              <a:defRPr sz="1520"/>
            </a:lvl2pPr>
            <a:lvl3pPr>
              <a:defRPr sz="1266"/>
            </a:lvl3pPr>
            <a:lvl4pPr>
              <a:defRPr sz="1141"/>
            </a:lvl4pPr>
            <a:lvl5pPr>
              <a:defRPr sz="1141"/>
            </a:lvl5pPr>
            <a:lvl6pPr>
              <a:defRPr sz="1266"/>
            </a:lvl6pPr>
            <a:lvl7pPr>
              <a:defRPr sz="1266"/>
            </a:lvl7pPr>
            <a:lvl8pPr>
              <a:defRPr sz="1266"/>
            </a:lvl8pPr>
            <a:lvl9pPr>
              <a:defRPr sz="1266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3E8D86B-609C-423A-9220-D7DC81877B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886"/>
            </a:lvl2pPr>
            <a:lvl3pPr marL="578755" indent="0">
              <a:buNone/>
              <a:defRPr sz="760"/>
            </a:lvl3pPr>
            <a:lvl4pPr marL="868132" indent="0">
              <a:buNone/>
              <a:defRPr sz="631"/>
            </a:lvl4pPr>
            <a:lvl5pPr marL="1157510" indent="0">
              <a:buNone/>
              <a:defRPr sz="631"/>
            </a:lvl5pPr>
            <a:lvl6pPr marL="1446887" indent="0">
              <a:buNone/>
              <a:defRPr sz="631"/>
            </a:lvl6pPr>
            <a:lvl7pPr marL="1736266" indent="0">
              <a:buNone/>
              <a:defRPr sz="631"/>
            </a:lvl7pPr>
            <a:lvl8pPr marL="2025644" indent="0">
              <a:buNone/>
              <a:defRPr sz="631"/>
            </a:lvl8pPr>
            <a:lvl9pPr marL="2315021" indent="0">
              <a:buNone/>
              <a:defRPr sz="63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8" name="Дата 3">
            <a:extLst>
              <a:ext uri="{FF2B5EF4-FFF2-40B4-BE49-F238E27FC236}">
                <a16:creationId xmlns:a16="http://schemas.microsoft.com/office/drawing/2014/main" id="{3D3B951D-08AE-4736-8D36-4EB9974DAC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E74468B-3512-454B-AB51-7AE95604D39E}" type="datetime1">
              <a:rPr lang="ru-RU" smtClean="0"/>
              <a:t>02.10.2026</a:t>
            </a:fld>
            <a:endParaRPr lang="ru-RU"/>
          </a:p>
        </p:txBody>
      </p:sp>
      <p:sp>
        <p:nvSpPr>
          <p:cNvPr id="9" name="Нижний колонтитул 4">
            <a:extLst>
              <a:ext uri="{FF2B5EF4-FFF2-40B4-BE49-F238E27FC236}">
                <a16:creationId xmlns:a16="http://schemas.microsoft.com/office/drawing/2014/main" id="{D1D906C7-232A-4192-A02B-35F7647002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0E0F42FE-1DE2-4412-B92B-28748FBE7F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55850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>
            <a:extLst>
              <a:ext uri="{FF2B5EF4-FFF2-40B4-BE49-F238E27FC236}">
                <a16:creationId xmlns:a16="http://schemas.microsoft.com/office/drawing/2014/main" id="{6492DF34-242F-4712-ACC0-85E96FE00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B2196-A440-4E25-B9FF-D0ADB01B1A15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5BFC209-E220-4DB1-9582-A06EDB7066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Заголовок 1">
            <a:extLst>
              <a:ext uri="{FF2B5EF4-FFF2-40B4-BE49-F238E27FC236}">
                <a16:creationId xmlns:a16="http://schemas.microsoft.com/office/drawing/2014/main" id="{F045645C-2F92-4AF1-B96A-C79DEB76E78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8" name="Номер слайда 5">
            <a:extLst>
              <a:ext uri="{FF2B5EF4-FFF2-40B4-BE49-F238E27FC236}">
                <a16:creationId xmlns:a16="http://schemas.microsoft.com/office/drawing/2014/main" id="{424E19F6-1411-4AFE-9677-D4180DA214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05715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одержание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7BAE699-64F9-49EF-B784-2DEF2B221955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1" name="Текст 6">
            <a:extLst>
              <a:ext uri="{FF2B5EF4-FFF2-40B4-BE49-F238E27FC236}">
                <a16:creationId xmlns:a16="http://schemas.microsoft.com/office/drawing/2014/main" id="{A8E19DA3-4B31-4259-B9A7-5F7A2E64285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2" name="Текст 9">
            <a:extLst>
              <a:ext uri="{FF2B5EF4-FFF2-40B4-BE49-F238E27FC236}">
                <a16:creationId xmlns:a16="http://schemas.microsoft.com/office/drawing/2014/main" id="{42FEA996-0F55-4FCB-8FCC-C78FEA766CF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3" name="Текст 6">
            <a:extLst>
              <a:ext uri="{FF2B5EF4-FFF2-40B4-BE49-F238E27FC236}">
                <a16:creationId xmlns:a16="http://schemas.microsoft.com/office/drawing/2014/main" id="{C4D8DFD8-867D-4062-800E-27B73FA83BF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4" name="Текст 9">
            <a:extLst>
              <a:ext uri="{FF2B5EF4-FFF2-40B4-BE49-F238E27FC236}">
                <a16:creationId xmlns:a16="http://schemas.microsoft.com/office/drawing/2014/main" id="{01B4FB59-79EB-42C6-8468-505204DD843D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5" name="Текст 6">
            <a:extLst>
              <a:ext uri="{FF2B5EF4-FFF2-40B4-BE49-F238E27FC236}">
                <a16:creationId xmlns:a16="http://schemas.microsoft.com/office/drawing/2014/main" id="{2DD2E24E-A578-41A0-8812-3CEB5EB7DE2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6" name="Текст 9">
            <a:extLst>
              <a:ext uri="{FF2B5EF4-FFF2-40B4-BE49-F238E27FC236}">
                <a16:creationId xmlns:a16="http://schemas.microsoft.com/office/drawing/2014/main" id="{29120726-8DD9-4194-A282-2630D18F49EA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0" name="Текст 6">
            <a:extLst>
              <a:ext uri="{FF2B5EF4-FFF2-40B4-BE49-F238E27FC236}">
                <a16:creationId xmlns:a16="http://schemas.microsoft.com/office/drawing/2014/main" id="{F30BC2DD-F35E-474E-A833-EA478E7F80B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1" name="Текст 9">
            <a:extLst>
              <a:ext uri="{FF2B5EF4-FFF2-40B4-BE49-F238E27FC236}">
                <a16:creationId xmlns:a16="http://schemas.microsoft.com/office/drawing/2014/main" id="{7124A073-4FEB-4F54-A9B4-6797D7B46CC3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2" name="Текст 6">
            <a:extLst>
              <a:ext uri="{FF2B5EF4-FFF2-40B4-BE49-F238E27FC236}">
                <a16:creationId xmlns:a16="http://schemas.microsoft.com/office/drawing/2014/main" id="{17FB4F65-9ABC-4376-8283-0F33F9BB91D6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3" name="Текст 9">
            <a:extLst>
              <a:ext uri="{FF2B5EF4-FFF2-40B4-BE49-F238E27FC236}">
                <a16:creationId xmlns:a16="http://schemas.microsoft.com/office/drawing/2014/main" id="{C2E3AAAD-E9EB-4A42-ADAF-EDA850F01ED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4" name="Текст 6">
            <a:extLst>
              <a:ext uri="{FF2B5EF4-FFF2-40B4-BE49-F238E27FC236}">
                <a16:creationId xmlns:a16="http://schemas.microsoft.com/office/drawing/2014/main" id="{835470A4-56EB-4A53-A875-42155372D2DA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5" name="Текст 9">
            <a:extLst>
              <a:ext uri="{FF2B5EF4-FFF2-40B4-BE49-F238E27FC236}">
                <a16:creationId xmlns:a16="http://schemas.microsoft.com/office/drawing/2014/main" id="{ED3CC4C2-7EF9-4A4B-BDD1-B16EF36B84C3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Текст 6">
            <a:extLst>
              <a:ext uri="{FF2B5EF4-FFF2-40B4-BE49-F238E27FC236}">
                <a16:creationId xmlns:a16="http://schemas.microsoft.com/office/drawing/2014/main" id="{53CEA4EC-5717-426C-A1A1-534D0A055245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778493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01</a:t>
            </a:r>
          </a:p>
        </p:txBody>
      </p:sp>
      <p:sp>
        <p:nvSpPr>
          <p:cNvPr id="28" name="Текст 6">
            <a:extLst>
              <a:ext uri="{FF2B5EF4-FFF2-40B4-BE49-F238E27FC236}">
                <a16:creationId xmlns:a16="http://schemas.microsoft.com/office/drawing/2014/main" id="{ECD22E46-ECAB-4A6C-9243-E1661118B47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02</a:t>
            </a:r>
          </a:p>
        </p:txBody>
      </p:sp>
      <p:sp>
        <p:nvSpPr>
          <p:cNvPr id="29" name="Текст 6">
            <a:extLst>
              <a:ext uri="{FF2B5EF4-FFF2-40B4-BE49-F238E27FC236}">
                <a16:creationId xmlns:a16="http://schemas.microsoft.com/office/drawing/2014/main" id="{A3CA815C-23B0-4736-B973-0A405AFC5D08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03</a:t>
            </a:r>
          </a:p>
        </p:txBody>
      </p:sp>
      <p:sp>
        <p:nvSpPr>
          <p:cNvPr id="30" name="Текст 6">
            <a:extLst>
              <a:ext uri="{FF2B5EF4-FFF2-40B4-BE49-F238E27FC236}">
                <a16:creationId xmlns:a16="http://schemas.microsoft.com/office/drawing/2014/main" id="{0C64CE05-E630-4FDE-B773-3165E579B3B6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04</a:t>
            </a:r>
          </a:p>
        </p:txBody>
      </p:sp>
      <p:sp>
        <p:nvSpPr>
          <p:cNvPr id="31" name="Текст 6">
            <a:extLst>
              <a:ext uri="{FF2B5EF4-FFF2-40B4-BE49-F238E27FC236}">
                <a16:creationId xmlns:a16="http://schemas.microsoft.com/office/drawing/2014/main" id="{52DBB510-86A6-45BB-B6E1-54FE5A86B490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05</a:t>
            </a:r>
          </a:p>
        </p:txBody>
      </p:sp>
      <p:sp>
        <p:nvSpPr>
          <p:cNvPr id="32" name="Текст 6">
            <a:extLst>
              <a:ext uri="{FF2B5EF4-FFF2-40B4-BE49-F238E27FC236}">
                <a16:creationId xmlns:a16="http://schemas.microsoft.com/office/drawing/2014/main" id="{CA530A5B-20B1-4742-8CF2-55C8F5CC1E91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41888580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граф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AFA80CC-940E-479C-90C0-76DA923785E9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Рисунок 7">
            <a:extLst>
              <a:ext uri="{FF2B5EF4-FFF2-40B4-BE49-F238E27FC236}">
                <a16:creationId xmlns:a16="http://schemas.microsoft.com/office/drawing/2014/main" id="{7F6989B1-EABA-40DD-BFD6-7E0075CDDEE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440147" y="1016001"/>
            <a:ext cx="4405777" cy="3078479"/>
          </a:xfrm>
        </p:spPr>
        <p:txBody>
          <a:bodyPr/>
          <a:lstStyle/>
          <a:p>
            <a:endParaRPr lang="ru-RU"/>
          </a:p>
        </p:txBody>
      </p:sp>
      <p:sp>
        <p:nvSpPr>
          <p:cNvPr id="28" name="Рисунок 9">
            <a:extLst>
              <a:ext uri="{FF2B5EF4-FFF2-40B4-BE49-F238E27FC236}">
                <a16:creationId xmlns:a16="http://schemas.microsoft.com/office/drawing/2014/main" id="{C157B27F-5477-43C4-BE9E-F7CF2A081F1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440149" y="4389108"/>
            <a:ext cx="4405775" cy="181166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29" name="Рисунок 11">
            <a:extLst>
              <a:ext uri="{FF2B5EF4-FFF2-40B4-BE49-F238E27FC236}">
                <a16:creationId xmlns:a16="http://schemas.microsoft.com/office/drawing/2014/main" id="{3E695B26-F7D2-4380-AAA1-0FB24A689AA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46075" y="3223948"/>
            <a:ext cx="6806142" cy="2976827"/>
          </a:xfrm>
        </p:spPr>
        <p:txBody>
          <a:bodyPr/>
          <a:lstStyle/>
          <a:p>
            <a:endParaRPr lang="ru-RU"/>
          </a:p>
        </p:txBody>
      </p:sp>
      <p:sp>
        <p:nvSpPr>
          <p:cNvPr id="30" name="Текст 15">
            <a:extLst>
              <a:ext uri="{FF2B5EF4-FFF2-40B4-BE49-F238E27FC236}">
                <a16:creationId xmlns:a16="http://schemas.microsoft.com/office/drawing/2014/main" id="{7EA2CF14-9D94-4B6F-AAA7-0B38CBB654C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5360169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нкт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82A4DA7B-A7D8-4443-AD1C-4C7CDC678488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3" name="Текст 101">
            <a:extLst>
              <a:ext uri="{FF2B5EF4-FFF2-40B4-BE49-F238E27FC236}">
                <a16:creationId xmlns:a16="http://schemas.microsoft.com/office/drawing/2014/main" id="{B61EFF39-7063-4F67-A1C0-B9D05F3602E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 dirty="0"/>
            </a:lvl1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75" name="Текст 74">
            <a:extLst>
              <a:ext uri="{FF2B5EF4-FFF2-40B4-BE49-F238E27FC236}">
                <a16:creationId xmlns:a16="http://schemas.microsoft.com/office/drawing/2014/main" id="{A0F2F041-BB01-463D-9CD2-6A231D59240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662924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6" name="Текст 74">
            <a:extLst>
              <a:ext uri="{FF2B5EF4-FFF2-40B4-BE49-F238E27FC236}">
                <a16:creationId xmlns:a16="http://schemas.microsoft.com/office/drawing/2014/main" id="{58BDD636-A558-406A-A768-05FF3D12BD8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662924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7" name="Текст 74">
            <a:extLst>
              <a:ext uri="{FF2B5EF4-FFF2-40B4-BE49-F238E27FC236}">
                <a16:creationId xmlns:a16="http://schemas.microsoft.com/office/drawing/2014/main" id="{53EE4994-79EE-43D0-B40B-E2DE25879B8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662924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8" name="Текст 74">
            <a:extLst>
              <a:ext uri="{FF2B5EF4-FFF2-40B4-BE49-F238E27FC236}">
                <a16:creationId xmlns:a16="http://schemas.microsoft.com/office/drawing/2014/main" id="{4CD31D83-EE69-46A0-B5B2-B2969969DCF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62924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9" name="Текст 74">
            <a:extLst>
              <a:ext uri="{FF2B5EF4-FFF2-40B4-BE49-F238E27FC236}">
                <a16:creationId xmlns:a16="http://schemas.microsoft.com/office/drawing/2014/main" id="{BFB2A4EF-E632-42AC-82F0-453D4A95A9E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662924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37610971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4E505DF-C567-47F2-9374-60838F800101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26867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807582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4584029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266994856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2938A0C3-5C2F-47B8-B008-79A49A1195BA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0163864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BF4F29EB-DFD0-428E-8E89-ED117A3553E3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3380588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д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52F0272-0FEA-44CE-966E-3D169B2F53D4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8" name="Текст 35">
            <a:extLst>
              <a:ext uri="{FF2B5EF4-FFF2-40B4-BE49-F238E27FC236}">
                <a16:creationId xmlns:a16="http://schemas.microsoft.com/office/drawing/2014/main" id="{BE583EE3-33C6-4FCC-9F56-28AB0B4FCAD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9" name="Текст 35">
            <a:extLst>
              <a:ext uri="{FF2B5EF4-FFF2-40B4-BE49-F238E27FC236}">
                <a16:creationId xmlns:a16="http://schemas.microsoft.com/office/drawing/2014/main" id="{AFEBE25F-FFFE-4B9D-94E7-7A69C7B0D747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2" name="Текст 35">
            <a:extLst>
              <a:ext uri="{FF2B5EF4-FFF2-40B4-BE49-F238E27FC236}">
                <a16:creationId xmlns:a16="http://schemas.microsoft.com/office/drawing/2014/main" id="{3E63DE62-DFB7-44A9-A85D-B687FAE797DC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3" name="Текст 35">
            <a:extLst>
              <a:ext uri="{FF2B5EF4-FFF2-40B4-BE49-F238E27FC236}">
                <a16:creationId xmlns:a16="http://schemas.microsoft.com/office/drawing/2014/main" id="{65791B9B-D32F-4C66-AD0A-B1F3CB6B2B21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4" name="Текст 35">
            <a:extLst>
              <a:ext uri="{FF2B5EF4-FFF2-40B4-BE49-F238E27FC236}">
                <a16:creationId xmlns:a16="http://schemas.microsoft.com/office/drawing/2014/main" id="{3052024B-27A5-4D0B-A7E7-5161FB0ED379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5" name="Текст 35">
            <a:extLst>
              <a:ext uri="{FF2B5EF4-FFF2-40B4-BE49-F238E27FC236}">
                <a16:creationId xmlns:a16="http://schemas.microsoft.com/office/drawing/2014/main" id="{9DFC47B0-ECC1-49CE-99A3-DC05480669A7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6" name="Текст 35">
            <a:extLst>
              <a:ext uri="{FF2B5EF4-FFF2-40B4-BE49-F238E27FC236}">
                <a16:creationId xmlns:a16="http://schemas.microsoft.com/office/drawing/2014/main" id="{3B86BD35-3919-4E07-B138-AAF7CFF7DF02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7" name="Текст 35">
            <a:extLst>
              <a:ext uri="{FF2B5EF4-FFF2-40B4-BE49-F238E27FC236}">
                <a16:creationId xmlns:a16="http://schemas.microsoft.com/office/drawing/2014/main" id="{10D94F19-5929-4A71-8C96-769ED6DD0BAE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8" name="Текст 35">
            <a:extLst>
              <a:ext uri="{FF2B5EF4-FFF2-40B4-BE49-F238E27FC236}">
                <a16:creationId xmlns:a16="http://schemas.microsoft.com/office/drawing/2014/main" id="{D84303F2-08F5-497F-BC9B-59F70995863F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9" name="Текст 35">
            <a:extLst>
              <a:ext uri="{FF2B5EF4-FFF2-40B4-BE49-F238E27FC236}">
                <a16:creationId xmlns:a16="http://schemas.microsoft.com/office/drawing/2014/main" id="{EA5C32CD-4539-4313-8B67-943CB8F5EBD9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55911799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роблема и реш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62B0DBE-B5A9-470E-85A9-7CC062D5339A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2FAEFDC9-8968-4F3D-8F8F-5591D6F30FE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 xml:space="preserve">Описание проблемы 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A7C77525-23F2-401E-A901-0374D8239BB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Примеры уже имеющихся способов решения данной проблемы</a:t>
            </a:r>
          </a:p>
        </p:txBody>
      </p:sp>
      <p:sp>
        <p:nvSpPr>
          <p:cNvPr id="153" name="Текст 35">
            <a:extLst>
              <a:ext uri="{FF2B5EF4-FFF2-40B4-BE49-F238E27FC236}">
                <a16:creationId xmlns:a16="http://schemas.microsoft.com/office/drawing/2014/main" id="{D2F4E226-3842-4532-A60F-4E8C02DAD6D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Ваше предложение решения данной проблемы</a:t>
            </a:r>
          </a:p>
        </p:txBody>
      </p:sp>
      <p:sp>
        <p:nvSpPr>
          <p:cNvPr id="189" name="Текст 35">
            <a:extLst>
              <a:ext uri="{FF2B5EF4-FFF2-40B4-BE49-F238E27FC236}">
                <a16:creationId xmlns:a16="http://schemas.microsoft.com/office/drawing/2014/main" id="{C44A233F-7BDF-4F40-844F-FC23B1912AA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Проблема</a:t>
            </a:r>
          </a:p>
        </p:txBody>
      </p:sp>
      <p:sp>
        <p:nvSpPr>
          <p:cNvPr id="190" name="Текст 35">
            <a:extLst>
              <a:ext uri="{FF2B5EF4-FFF2-40B4-BE49-F238E27FC236}">
                <a16:creationId xmlns:a16="http://schemas.microsoft.com/office/drawing/2014/main" id="{1683ED6E-2444-48B8-A78B-F1EBA53E21C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Альтернативные решения</a:t>
            </a:r>
          </a:p>
        </p:txBody>
      </p:sp>
      <p:sp>
        <p:nvSpPr>
          <p:cNvPr id="191" name="Текст 35">
            <a:extLst>
              <a:ext uri="{FF2B5EF4-FFF2-40B4-BE49-F238E27FC236}">
                <a16:creationId xmlns:a16="http://schemas.microsoft.com/office/drawing/2014/main" id="{B788F042-DAFC-4B5A-B1AA-8ADEFAAA980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Решение</a:t>
            </a:r>
          </a:p>
        </p:txBody>
      </p:sp>
    </p:spTree>
    <p:extLst>
      <p:ext uri="{BB962C8B-B14F-4D97-AF65-F5344CB8AC3E}">
        <p14:creationId xmlns:p14="http://schemas.microsoft.com/office/powerpoint/2010/main" val="8752738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162940" y="1264478"/>
            <a:ext cx="3866121" cy="2436377"/>
          </a:xfrm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D396B86-640F-4AD1-BBB2-E085B6CD8771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6075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240502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1" name="Текст 7">
            <a:extLst>
              <a:ext uri="{FF2B5EF4-FFF2-40B4-BE49-F238E27FC236}">
                <a16:creationId xmlns:a16="http://schemas.microsoft.com/office/drawing/2014/main" id="{7C8F4076-BB2C-4FA3-9BAD-5EF87B638D5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230203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346991203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3AF0E63-1EB1-47F5-B09E-CA3E5DE528F3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210643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857950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210642" y="1577998"/>
            <a:ext cx="4121688" cy="2283975"/>
          </a:xfrm>
        </p:spPr>
      </p:sp>
      <p:sp>
        <p:nvSpPr>
          <p:cNvPr id="123" name="Picture Placeholder 1">
            <a:extLst>
              <a:ext uri="{FF2B5EF4-FFF2-40B4-BE49-F238E27FC236}">
                <a16:creationId xmlns:a16="http://schemas.microsoft.com/office/drawing/2014/main" id="{C7FB8BAF-17B6-40DC-9912-73B3494AC45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855540" y="1577998"/>
            <a:ext cx="4121688" cy="2283975"/>
          </a:xfrm>
        </p:spPr>
      </p:sp>
    </p:spTree>
    <p:extLst>
      <p:ext uri="{BB962C8B-B14F-4D97-AF65-F5344CB8AC3E}">
        <p14:creationId xmlns:p14="http://schemas.microsoft.com/office/powerpoint/2010/main" val="228239539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34F2EADD-49A3-44E7-AC8B-D07BF1B4F1A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56349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6" name="Текст 35">
            <a:extLst>
              <a:ext uri="{FF2B5EF4-FFF2-40B4-BE49-F238E27FC236}">
                <a16:creationId xmlns:a16="http://schemas.microsoft.com/office/drawing/2014/main" id="{15551546-3EE0-4A54-9DEE-1E9FEBF43B2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7" name="Текст 35">
            <a:extLst>
              <a:ext uri="{FF2B5EF4-FFF2-40B4-BE49-F238E27FC236}">
                <a16:creationId xmlns:a16="http://schemas.microsoft.com/office/drawing/2014/main" id="{9D9ADB6F-AC53-4034-92EE-80435562B80A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040021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8" name="Текст 35">
            <a:extLst>
              <a:ext uri="{FF2B5EF4-FFF2-40B4-BE49-F238E27FC236}">
                <a16:creationId xmlns:a16="http://schemas.microsoft.com/office/drawing/2014/main" id="{EAB22390-1508-4419-B1B3-375A734DF0EE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040021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9" name="Текст 35">
            <a:extLst>
              <a:ext uri="{FF2B5EF4-FFF2-40B4-BE49-F238E27FC236}">
                <a16:creationId xmlns:a16="http://schemas.microsoft.com/office/drawing/2014/main" id="{FF699DD2-8E32-4C98-8444-90139EB2FDC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56349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0" name="Текст 35">
            <a:extLst>
              <a:ext uri="{FF2B5EF4-FFF2-40B4-BE49-F238E27FC236}">
                <a16:creationId xmlns:a16="http://schemas.microsoft.com/office/drawing/2014/main" id="{6496F1D2-4B4B-412C-B228-1C27099F20D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1" name="Текст 35">
            <a:extLst>
              <a:ext uri="{FF2B5EF4-FFF2-40B4-BE49-F238E27FC236}">
                <a16:creationId xmlns:a16="http://schemas.microsoft.com/office/drawing/2014/main" id="{55E268D8-B309-4AA0-8E1B-30DF4A867252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040021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E6797EA4-A26A-41BA-A1AB-8E1F9B9574D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040021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cxnSp>
        <p:nvCxnSpPr>
          <p:cNvPr id="168" name="Google Shape;2799;p94">
            <a:extLst>
              <a:ext uri="{FF2B5EF4-FFF2-40B4-BE49-F238E27FC236}">
                <a16:creationId xmlns:a16="http://schemas.microsoft.com/office/drawing/2014/main" id="{FA0271FA-A51F-4387-9143-29364B78BFC3}"/>
              </a:ext>
            </a:extLst>
          </p:cNvPr>
          <p:cNvCxnSpPr>
            <a:cxnSpLocks/>
          </p:cNvCxnSpPr>
          <p:nvPr userDrawn="1"/>
        </p:nvCxnSpPr>
        <p:spPr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9" name="Google Shape;2799;p94">
            <a:extLst>
              <a:ext uri="{FF2B5EF4-FFF2-40B4-BE49-F238E27FC236}">
                <a16:creationId xmlns:a16="http://schemas.microsoft.com/office/drawing/2014/main" id="{83B50154-F03F-4297-B4A8-C77D1687B8DA}"/>
              </a:ext>
            </a:extLst>
          </p:cNvPr>
          <p:cNvCxnSpPr>
            <a:cxnSpLocks/>
          </p:cNvCxnSpPr>
          <p:nvPr userDrawn="1"/>
        </p:nvCxnSpPr>
        <p:spPr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0" name="Google Shape;2799;p94">
            <a:extLst>
              <a:ext uri="{FF2B5EF4-FFF2-40B4-BE49-F238E27FC236}">
                <a16:creationId xmlns:a16="http://schemas.microsoft.com/office/drawing/2014/main" id="{89D0D73E-B609-4208-BFA6-94ED3BC232A9}"/>
              </a:ext>
            </a:extLst>
          </p:cNvPr>
          <p:cNvCxnSpPr>
            <a:cxnSpLocks/>
          </p:cNvCxnSpPr>
          <p:nvPr userDrawn="1"/>
        </p:nvCxnSpPr>
        <p:spPr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1" name="Google Shape;2799;p94">
            <a:extLst>
              <a:ext uri="{FF2B5EF4-FFF2-40B4-BE49-F238E27FC236}">
                <a16:creationId xmlns:a16="http://schemas.microsoft.com/office/drawing/2014/main" id="{1DD03E5E-FCF0-4EC5-BA97-518950F7A41C}"/>
              </a:ext>
            </a:extLst>
          </p:cNvPr>
          <p:cNvCxnSpPr>
            <a:cxnSpLocks/>
          </p:cNvCxnSpPr>
          <p:nvPr userDrawn="1"/>
        </p:nvCxnSpPr>
        <p:spPr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A19765B8-4F24-5E1F-432E-F592BFAF73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9" name="Дата 8">
            <a:extLst>
              <a:ext uri="{FF2B5EF4-FFF2-40B4-BE49-F238E27FC236}">
                <a16:creationId xmlns:a16="http://schemas.microsoft.com/office/drawing/2014/main" id="{E19B813A-8796-C89A-4669-BFA5CA98F24A}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fld id="{9D490EE5-ED7D-46E8-8345-A78A0CB0F4A4}" type="datetime1">
              <a:rPr lang="ru-RU" smtClean="0"/>
              <a:t>02.10.2026</a:t>
            </a:fld>
            <a:endParaRPr lang="ru-RU"/>
          </a:p>
        </p:txBody>
      </p:sp>
      <p:sp>
        <p:nvSpPr>
          <p:cNvPr id="10" name="Нижний колонтитул 9">
            <a:extLst>
              <a:ext uri="{FF2B5EF4-FFF2-40B4-BE49-F238E27FC236}">
                <a16:creationId xmlns:a16="http://schemas.microsoft.com/office/drawing/2014/main" id="{2648A9B9-3888-6E59-EA1C-76276C4EE93D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0E2B1EF5-F5AA-C72A-5C4D-8EE372388A4E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4641972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001460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" name="Picture Placeholder 1">
            <a:extLst>
              <a:ext uri="{FF2B5EF4-FFF2-40B4-BE49-F238E27FC236}">
                <a16:creationId xmlns:a16="http://schemas.microsoft.com/office/drawing/2014/main" id="{5F8A3887-CB84-43EA-BFC4-CD93F421C5F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2" name="Picture Placeholder 1">
            <a:extLst>
              <a:ext uri="{FF2B5EF4-FFF2-40B4-BE49-F238E27FC236}">
                <a16:creationId xmlns:a16="http://schemas.microsoft.com/office/drawing/2014/main" id="{E009EEBC-6069-4389-9953-A05FCC07FDF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71" name="Picture Placeholder 1">
            <a:extLst>
              <a:ext uri="{FF2B5EF4-FFF2-40B4-BE49-F238E27FC236}">
                <a16:creationId xmlns:a16="http://schemas.microsoft.com/office/drawing/2014/main" id="{16E9D3D5-A966-4770-89F5-48C9F92735FE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C8C16AD-D907-4463-BE30-FCBB33ACAE3F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97" name="Текст 7">
            <a:extLst>
              <a:ext uri="{FF2B5EF4-FFF2-40B4-BE49-F238E27FC236}">
                <a16:creationId xmlns:a16="http://schemas.microsoft.com/office/drawing/2014/main" id="{B3D45624-8EA3-4B52-B030-A364BB470CC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46076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8" name="Текст 7">
            <a:extLst>
              <a:ext uri="{FF2B5EF4-FFF2-40B4-BE49-F238E27FC236}">
                <a16:creationId xmlns:a16="http://schemas.microsoft.com/office/drawing/2014/main" id="{CA86BD45-703D-484A-9D4A-1FEA90A4808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69562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9" name="Текст 7">
            <a:extLst>
              <a:ext uri="{FF2B5EF4-FFF2-40B4-BE49-F238E27FC236}">
                <a16:creationId xmlns:a16="http://schemas.microsoft.com/office/drawing/2014/main" id="{0FE3D94F-B533-4C0D-9E9B-72F06706305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93048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00" name="Текст 7">
            <a:extLst>
              <a:ext uri="{FF2B5EF4-FFF2-40B4-BE49-F238E27FC236}">
                <a16:creationId xmlns:a16="http://schemas.microsoft.com/office/drawing/2014/main" id="{0C4A1F6E-BDC1-410D-A748-7E90C2221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116535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08DEFE-D4AF-4461-AEAA-AABBFA147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1864585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уст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7695031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BCE23A-38F1-44E4-8D99-E9CD24A3A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6EAD268-7E0C-4473-BF2C-A75921B98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905FB47-C828-44E8-81A6-7D70F28691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D490EE5-ED7D-46E8-8345-A78A0CB0F4A4}" type="datetime1">
              <a:rPr lang="ru-RU" smtClean="0"/>
              <a:t>02.10.2026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38C8EAA-BD95-4729-8C84-AB6D45F44A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5" name="Номер слайда 5">
            <a:extLst>
              <a:ext uri="{FF2B5EF4-FFF2-40B4-BE49-F238E27FC236}">
                <a16:creationId xmlns:a16="http://schemas.microsoft.com/office/drawing/2014/main" id="{797EBB71-A16C-4900-8120-78386F05C8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2615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704" r:id="rId2"/>
    <p:sldLayoutId id="2147483694" r:id="rId3"/>
    <p:sldLayoutId id="2147483688" r:id="rId4"/>
    <p:sldLayoutId id="2147483662" r:id="rId5"/>
    <p:sldLayoutId id="2147483663" r:id="rId6"/>
    <p:sldLayoutId id="2147483664" r:id="rId7"/>
    <p:sldLayoutId id="2147483666" r:id="rId8"/>
    <p:sldLayoutId id="2147483667" r:id="rId9"/>
    <p:sldLayoutId id="2147483668" r:id="rId10"/>
    <p:sldLayoutId id="2147483689" r:id="rId11"/>
    <p:sldLayoutId id="2147483690" r:id="rId12"/>
    <p:sldLayoutId id="2147483702" r:id="rId13"/>
    <p:sldLayoutId id="2147483691" r:id="rId14"/>
    <p:sldLayoutId id="2147483692" r:id="rId15"/>
    <p:sldLayoutId id="2147483693" r:id="rId16"/>
    <p:sldLayoutId id="2147483696" r:id="rId17"/>
    <p:sldLayoutId id="2147483697" r:id="rId18"/>
    <p:sldLayoutId id="2147483698" r:id="rId19"/>
    <p:sldLayoutId id="2147483699" r:id="rId20"/>
    <p:sldLayoutId id="2147483700" r:id="rId21"/>
    <p:sldLayoutId id="2147483701" r:id="rId22"/>
    <p:sldLayoutId id="2147483703" r:id="rId23"/>
  </p:sldLayoutIdLst>
  <p:hf hdr="0" ftr="0" dt="0"/>
  <p:txStyles>
    <p:titleStyle>
      <a:lvl1pPr algn="l" defTabSz="578755" rtl="0" eaLnBrk="1" latinLnBrk="0" hangingPunct="1">
        <a:lnSpc>
          <a:spcPct val="90000"/>
        </a:lnSpc>
        <a:spcBef>
          <a:spcPct val="0"/>
        </a:spcBef>
        <a:buNone/>
        <a:defRPr sz="1997" b="1" kern="1200">
          <a:solidFill>
            <a:schemeClr val="bg1">
              <a:lumMod val="95000"/>
            </a:schemeClr>
          </a:solidFill>
          <a:latin typeface="+mj-lt"/>
          <a:ea typeface="+mj-ea"/>
          <a:cs typeface="Amatic SC" panose="00000500000000000000" pitchFamily="2" charset="-79"/>
        </a:defRPr>
      </a:lvl1pPr>
    </p:titleStyle>
    <p:bodyStyle>
      <a:lvl1pPr marL="144688" indent="-144688" algn="l" defTabSz="578755" rtl="0" eaLnBrk="1" latinLnBrk="0" hangingPunct="1">
        <a:lnSpc>
          <a:spcPct val="90000"/>
        </a:lnSpc>
        <a:spcBef>
          <a:spcPts val="631"/>
        </a:spcBef>
        <a:buFont typeface="Arial" panose="020B0604020202020204" pitchFamily="34" charset="0"/>
        <a:buChar char="•"/>
        <a:defRPr sz="1452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271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9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6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9" orient="horz" pos="4156">
          <p15:clr>
            <a:srgbClr val="F26B43"/>
          </p15:clr>
        </p15:guide>
        <p15:guide id="20" orient="horz" pos="482">
          <p15:clr>
            <a:srgbClr val="F26B43"/>
          </p15:clr>
        </p15:guide>
        <p15:guide id="21" pos="218">
          <p15:clr>
            <a:srgbClr val="F26B43"/>
          </p15:clr>
        </p15:guide>
        <p15:guide id="22" pos="7469">
          <p15:clr>
            <a:srgbClr val="F26B43"/>
          </p15:clr>
        </p15:guide>
        <p15:guide id="23" orient="horz" pos="249">
          <p15:clr>
            <a:srgbClr val="F26B43"/>
          </p15:clr>
        </p15:guide>
        <p15:guide id="24" orient="horz" pos="4042">
          <p15:clr>
            <a:srgbClr val="F26B43"/>
          </p15:clr>
        </p15:guide>
        <p15:guide id="25" orient="horz" pos="3906">
          <p15:clr>
            <a:srgbClr val="F26B43"/>
          </p15:clr>
        </p15:guide>
        <p15:guide id="26" orient="horz" pos="640">
          <p15:clr>
            <a:srgbClr val="F26B43"/>
          </p15:clr>
        </p15:guide>
        <p15:guide id="27" pos="3840">
          <p15:clr>
            <a:srgbClr val="F26B43"/>
          </p15:clr>
        </p15:guide>
      </p15:sldGuideLst>
    </p:ext>
  </p:extLst>
</p:sldMaster>
</file>

<file path=ppt/slides/_rels/slide7.xml.rels><?xml version="1.0" encoding="UTF-8"?>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Relationship Id="rId3" Type="http://schemas.openxmlformats.org/officeDocument/2006/relationships/image" Target="../media/shot_logo-fsp.png"/></Relationships>
</file>

<file path=ppt/slides/_rels/slide8.xml.rels><?xml version="1.0" encoding="UTF-8"?>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?>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10.xml.rels><?xml version="1.0" encoding="UTF-8"?>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11.xml.rels><?xml version="1.0" encoding="UTF-8"?>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1.xml"/></Relationships>
</file>

<file path=ppt/slides/_rels/slide12.xml.rels><?xml version="1.0" encoding="UTF-8"?>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5.xml"/><Relationship Id="rId3" Type="http://schemas.openxmlformats.org/officeDocument/2006/relationships/image" Target="../media/shot_01-register.png"/><Relationship Id="rId4" Type="http://schemas.openxmlformats.org/officeDocument/2006/relationships/image" Target="../media/shot_02-confirm-code.png"/></Relationships>
</file>

<file path=ppt/slides/_rels/slide13.xml.rels><?xml version="1.0" encoding="UTF-8"?>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5.xml"/><Relationship Id="rId3" Type="http://schemas.openxmlformats.org/officeDocument/2006/relationships/image" Target="../media/shot_05-test-card.png"/></Relationships>
</file>

<file path=ppt/slides/_rels/slide14.xml.rels><?xml version="1.0" encoding="UTF-8"?>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shot_06-cabinet-category.png"/></Relationships>
</file>

<file path=ppt/slides/_rels/slide15.xml.rels><?xml version="1.0" encoding="UTF-8"?>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3.xml"/><Relationship Id="rId3" Type="http://schemas.openxmlformats.org/officeDocument/2006/relationships/image" Target="../media/shot_07-fsp-card.png"/></Relationships>
</file>

<file path=ppt/slides/_rels/slide16.xml.rels><?xml version="1.0" encoding="UTF-8"?>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1.xml"/><Relationship Id="rId3" Type="http://schemas.openxmlformats.org/officeDocument/2006/relationships/image" Target="../media/shot_08-fsp-card.png"/></Relationships>
</file>

<file path=ppt/slides/_rels/slide17.xml.rels><?xml version="1.0" encoding="UTF-8"?>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1.xml"/><Relationship Id="rId3" Type="http://schemas.openxmlformats.org/officeDocument/2006/relationships/image" Target="../media/shot_10-shortlist-card.png"/></Relationships>
</file>

<file path=ppt/slides/_rels/slide18.xml.rels><?xml version="1.0" encoding="UTF-8"?>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1.xml"/><Relationship Id="rId3" Type="http://schemas.openxmlformats.org/officeDocument/2006/relationships/image" Target="../media/shot_12-sent-card.png"/></Relationships>
</file>

<file path=ppt/slides/_rels/slide19.xml.rels><?xml version="1.0" encoding="UTF-8"?>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2.xml"/><Relationship Id="rId3" Type="http://schemas.openxmlformats.org/officeDocument/2006/relationships/image" Target="../media/shot_13-offer-seen.png"/></Relationships>
</file>

<file path=ppt/slides/_rels/slide20.xml.rels><?xml version="1.0" encoding="UTF-8"?>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3.xml"/><Relationship Id="rId3" Type="http://schemas.openxmlformats.org/officeDocument/2006/relationships/image" Target="../media/shot_15-accepted-card.png"/></Relationships>
</file>

<file path=ppt/slides/_rels/slide21.xml.rels><?xml version="1.0" encoding="UTF-8"?>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shot_16-metrics.png"/></Relationships>
</file>

<file path=ppt/slides/_rels/slide22.xml.rels><?xml version="1.0" encoding="UTF-8"?>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6.xml"/></Relationships>
</file>

<file path=ppt/slides/_rels/slide25.xml.rels><?xml version="1.0" encoding="UTF-8"?>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7.xml"/></Relationships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2FA84A33-0C72-0932-80BA-8E3874357B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" y="3894513"/>
            <a:ext cx="6271845" cy="1706743"/>
          </a:xfrm>
        </p:spPr>
        <p:txBody>
          <a:bodyPr/>
          <a:lstStyle/>
          <a:p>
            <a:pPr marL="268288" indent="0"/>
            <a:endParaRPr lang="ru-RU" sz="4800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7079B28-9FB8-672E-DD52-FA978EC4A21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0" y="5659501"/>
            <a:ext cx="8930641" cy="757174"/>
          </a:xfrm>
        </p:spPr>
        <p:txBody>
          <a:bodyPr anchor="ctr">
            <a:normAutofit lnSpcReduction="10000"/>
          </a:bodyPr>
          <a:lstStyle/>
          <a:p>
            <a:pPr marL="271463" indent="-3175"/>
            <a:r>
              <a:rPr lang="ru-RU" dirty="0"/>
              <a:t xml:space="preserve">Цифровая платформа-агрегатор ИТ-вакансий </a:t>
            </a:r>
            <a:br>
              <a:rPr lang="ru-RU" dirty="0"/>
            </a:br>
            <a:r>
              <a:rPr lang="ru-RU" dirty="0"/>
              <a:t xml:space="preserve">с верифицированным профилем достижений </a:t>
            </a:r>
            <a:br>
              <a:rPr lang="ru-RU" dirty="0"/>
            </a:br>
            <a:r>
              <a:rPr lang="ru-RU" dirty="0"/>
              <a:t>участника Федерации спортивного программирования (ФСП)</a:t>
            </a: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42AA0FBE-CF0A-64AF-80E8-EF1996F56DB8}"/>
              </a:ext>
            </a:extLst>
          </p:cNvPr>
          <p:cNvSpPr/>
          <p:nvPr/>
        </p:nvSpPr>
        <p:spPr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00FC7892-251B-3371-00B1-416B799F0D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6075" y="631174"/>
            <a:ext cx="4905194" cy="620035"/>
          </a:xfrm>
          <a:prstGeom prst="rect">
            <a:avLst/>
          </a:prstGeom>
        </p:spPr>
      </p:pic>
      <p:pic>
        <p:nvPicPr>
          <p:cNvPr id="11" name="Логотип ФСП" descr="Логотип ФСП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5852160"/>
            <a:ext cx="2194560" cy="6583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06660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13BA75DB-8EAE-769C-2B17-FF7CD6EEF6C6}"/>
              </a:ext>
            </a:extLst>
          </p:cNvPr>
          <p:cNvSpPr/>
          <p:nvPr/>
        </p:nvSpPr>
        <p:spPr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dirty="0"/>
          </a:p>
        </p:txBody>
      </p:sp>
      <p:sp>
        <p:nvSpPr>
          <p:cNvPr id="2" name="Рисунок 1">
            <a:extLst>
              <a:ext uri="{FF2B5EF4-FFF2-40B4-BE49-F238E27FC236}">
                <a16:creationId xmlns:a16="http://schemas.microsoft.com/office/drawing/2014/main" id="{C7F1B208-7478-7BDA-1FDE-22C1555254C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335267"/>
            <a:ext cx="6456363" cy="2971784"/>
          </a:xfrm>
        </p:spPr>
      </p:sp>
      <p:sp>
        <p:nvSpPr>
          <p:cNvPr id="6" name="Текст 8">
            <a:extLst>
              <a:ext uri="{FF2B5EF4-FFF2-40B4-BE49-F238E27FC236}">
                <a16:creationId xmlns:a16="http://schemas.microsoft.com/office/drawing/2014/main" id="{32D7670A-4313-AE7C-DDA9-134ADC224C94}"/>
              </a:ext>
            </a:extLst>
          </p:cNvPr>
          <p:cNvSpPr txBox="1">
            <a:spLocks/>
          </p:cNvSpPr>
          <p:nvPr/>
        </p:nvSpPr>
        <p:spPr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Краткое описание решения:</a:t>
            </a:r>
          </a:p>
        </p:txBody>
      </p:sp>
      <p:sp>
        <p:nvSpPr>
          <p:cNvPr id="8" name="Текст 8">
            <a:extLst>
              <a:ext uri="{FF2B5EF4-FFF2-40B4-BE49-F238E27FC236}">
                <a16:creationId xmlns:a16="http://schemas.microsoft.com/office/drawing/2014/main" id="{D8A04531-793D-BF7A-34F3-615C18C06BA5}"/>
              </a:ext>
            </a:extLst>
          </p:cNvPr>
          <p:cNvSpPr txBox="1">
            <a:spLocks/>
          </p:cNvSpPr>
          <p:nvPr/>
        </p:nvSpPr>
        <p:spPr>
          <a:xfrm>
            <a:off x="6836606" y="4876070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>
                <a:solidFill>
                  <a:schemeClr val="tx1"/>
                </a:solidFill>
              </a:rPr>
              <a:t>Категория — специализация и грейд. Тест грейд не понижает. Достижения ФСП меняют порядок внутри категории. Пустая история — не ошибка.</a:t>
            </a:r>
          </a:p>
        </p:txBody>
      </p:sp>
      <p:sp>
        <p:nvSpPr>
          <p:cNvPr id="14" name="Текст 8">
            <a:extLst>
              <a:ext uri="{FF2B5EF4-FFF2-40B4-BE49-F238E27FC236}">
                <a16:creationId xmlns:a16="http://schemas.microsoft.com/office/drawing/2014/main" id="{A66B04C6-E9BA-5BA2-7A5C-84468D491C57}"/>
              </a:ext>
            </a:extLst>
          </p:cNvPr>
          <p:cNvSpPr txBox="1">
            <a:spLocks/>
          </p:cNvSpPr>
          <p:nvPr/>
        </p:nvSpPr>
        <p:spPr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 xml:space="preserve">Капитан: </a:t>
            </a:r>
            <a:r>
              <a:rPr lang="ru-RU" dirty="0">
                <a:solidFill>
                  <a:schemeClr val="tx1"/>
                </a:solidFill>
              </a:rPr>
              <a:t>Евгений Чистяков, разработка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 xml:space="preserve">Кол-во участников: </a:t>
            </a:r>
            <a:r>
              <a:rPr lang="ru-RU" dirty="0">
                <a:solidFill>
                  <a:schemeClr val="tx1"/>
                </a:solidFill>
              </a:rPr>
              <a:t>1 человек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 xml:space="preserve">Краткое описание: 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ru-RU" i="1" dirty="0">
                <a:solidFill>
                  <a:schemeClr val="tx1"/>
                </a:solidFill>
              </a:rPr>
              <a:t>Прототип собран одним разработчиком в каталоге product/.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ru-RU" i="1" dirty="0">
                <a:solidFill>
                  <a:schemeClr val="tx1"/>
                </a:solidFill>
              </a:rPr>
              <a:t>Спецтрек ЛЦТ, Федерация спортивного программирования.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Город и регион: Россия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835E7A1E-FFEA-1C2F-65E6-56769FEFB842}"/>
              </a:ext>
            </a:extLst>
          </p:cNvPr>
          <p:cNvSpPr txBox="1">
            <a:spLocks/>
          </p:cNvSpPr>
          <p:nvPr/>
        </p:nvSpPr>
        <p:spPr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О команде</a:t>
            </a:r>
          </a:p>
        </p:txBody>
      </p:sp>
      <p:sp>
        <p:nvSpPr>
          <p:cNvPr id="18" name="Заголовок 6">
            <a:extLst>
              <a:ext uri="{FF2B5EF4-FFF2-40B4-BE49-F238E27FC236}">
                <a16:creationId xmlns:a16="http://schemas.microsoft.com/office/drawing/2014/main" id="{7CB04CCE-DD7B-2901-A280-8E4E07945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9903" y="1039236"/>
            <a:ext cx="3636703" cy="1015128"/>
          </a:xfrm>
        </p:spPr>
        <p:txBody>
          <a:bodyPr/>
          <a:lstStyle/>
          <a:p>
            <a:endParaRPr lang="ru-RU" sz="2400" dirty="0">
              <a:solidFill>
                <a:schemeClr val="accent5"/>
              </a:solidFill>
              <a:latin typeface="+mn-lt"/>
            </a:endParaRPr>
          </a:p>
        </p:txBody>
      </p:sp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7C7CCC6C-58F8-0E63-53E4-87AE6D59DD62}"/>
              </a:ext>
            </a:extLst>
          </p:cNvPr>
          <p:cNvCxnSpPr>
            <a:cxnSpLocks/>
          </p:cNvCxnSpPr>
          <p:nvPr/>
        </p:nvCxnSpPr>
        <p:spPr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" name="Прямая соединительная линия 15">
            <a:extLst>
              <a:ext uri="{FF2B5EF4-FFF2-40B4-BE49-F238E27FC236}">
                <a16:creationId xmlns:a16="http://schemas.microsoft.com/office/drawing/2014/main" id="{1B3B23E2-26F4-92D2-2DA4-7A9B6B8237E1}"/>
              </a:ext>
            </a:extLst>
          </p:cNvPr>
          <p:cNvCxnSpPr>
            <a:cxnSpLocks/>
          </p:cNvCxnSpPr>
          <p:nvPr/>
        </p:nvCxnSpPr>
        <p:spPr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7" name="Прямая соединительная линия 16">
            <a:extLst>
              <a:ext uri="{FF2B5EF4-FFF2-40B4-BE49-F238E27FC236}">
                <a16:creationId xmlns:a16="http://schemas.microsoft.com/office/drawing/2014/main" id="{0C8347DC-DEA9-7C56-5C73-FA89FB55D49D}"/>
              </a:ext>
            </a:extLst>
          </p:cNvPr>
          <p:cNvCxnSpPr>
            <a:cxnSpLocks/>
          </p:cNvCxnSpPr>
          <p:nvPr/>
        </p:nvCxnSpPr>
        <p:spPr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Текст 8">
            <a:extLst>
              <a:ext uri="{FF2B5EF4-FFF2-40B4-BE49-F238E27FC236}">
                <a16:creationId xmlns:a16="http://schemas.microsoft.com/office/drawing/2014/main" id="{D556F1CE-69ED-AE0F-D388-9032B66CC535}"/>
              </a:ext>
            </a:extLst>
          </p:cNvPr>
          <p:cNvSpPr txBox="1">
            <a:spLocks/>
          </p:cNvSpPr>
          <p:nvPr/>
        </p:nvSpPr>
        <p:spPr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Уникальность решения:</a:t>
            </a:r>
          </a:p>
        </p:txBody>
      </p:sp>
      <p:sp>
        <p:nvSpPr>
          <p:cNvPr id="5" name="Текст 8">
            <a:extLst>
              <a:ext uri="{FF2B5EF4-FFF2-40B4-BE49-F238E27FC236}">
                <a16:creationId xmlns:a16="http://schemas.microsoft.com/office/drawing/2014/main" id="{6811D897-A2AE-AA09-747E-1B90C43B5420}"/>
              </a:ext>
            </a:extLst>
          </p:cNvPr>
          <p:cNvSpPr txBox="1">
            <a:spLocks/>
          </p:cNvSpPr>
          <p:nvPr/>
        </p:nvSpPr>
        <p:spPr>
          <a:xfrm>
            <a:off x="6808027" y="2619903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>
                <a:solidFill>
                  <a:schemeClr val="tx1"/>
                </a:solidFill>
              </a:rPr>
              <a:t>Работодатель сам находит категорию и пишет человеку с вилкой в рублях. Соискатель не откликается вслепую.</a:t>
            </a:r>
          </a:p>
        </p:txBody>
      </p:sp>
      <p:sp>
        <p:nvSpPr>
          <p:cNvPr id="10" name="Номер слайда 35">
            <a:extLst>
              <a:ext uri="{FF2B5EF4-FFF2-40B4-BE49-F238E27FC236}">
                <a16:creationId xmlns:a16="http://schemas.microsoft.com/office/drawing/2014/main" id="{75D9ACE7-3A6B-03B3-9BA4-502350CBAA74}"/>
              </a:ext>
            </a:extLst>
          </p:cNvPr>
          <p:cNvSpPr txBox="1">
            <a:spLocks/>
          </p:cNvSpPr>
          <p:nvPr/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52DCC5B9-D646-4B76-891F-6FF4E74E9CB4}" type="slidenum">
              <a:rPr lang="ru-RU" sz="1200" smtClean="0">
                <a:solidFill>
                  <a:schemeClr val="accent5"/>
                </a:solidFill>
              </a:rPr>
              <a:pPr algn="ctr"/>
              <a:t>8</a:t>
            </a:fld>
            <a:endParaRPr lang="ru-RU" sz="1200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397789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AC977F-019F-1EBC-A1EC-CEAA645B5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Скругленный прямоугольник 55">
            <a:extLst>
              <a:ext uri="{FF2B5EF4-FFF2-40B4-BE49-F238E27FC236}">
                <a16:creationId xmlns:a16="http://schemas.microsoft.com/office/drawing/2014/main" id="{635392F3-78F4-5585-E25E-CDBEA7E9F10C}"/>
              </a:ext>
            </a:extLst>
          </p:cNvPr>
          <p:cNvSpPr/>
          <p:nvPr/>
        </p:nvSpPr>
        <p:spPr>
          <a:xfrm>
            <a:off x="2651394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57" name="Текст 8">
            <a:extLst>
              <a:ext uri="{FF2B5EF4-FFF2-40B4-BE49-F238E27FC236}">
                <a16:creationId xmlns:a16="http://schemas.microsoft.com/office/drawing/2014/main" id="{9398668D-F141-1433-7B1B-1518BC470E30}"/>
              </a:ext>
            </a:extLst>
          </p:cNvPr>
          <p:cNvSpPr txBox="1">
            <a:spLocks/>
          </p:cNvSpPr>
          <p:nvPr/>
        </p:nvSpPr>
        <p:spPr>
          <a:xfrm>
            <a:off x="2823678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Разработка, продукт, подбор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echistyakov@aq.ru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по запросу жюри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спецтрек ЛЦТ / ФСП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58" name="Текст 8">
            <a:extLst>
              <a:ext uri="{FF2B5EF4-FFF2-40B4-BE49-F238E27FC236}">
                <a16:creationId xmlns:a16="http://schemas.microsoft.com/office/drawing/2014/main" id="{8D1E397B-73F6-7777-9CD1-12E43986247F}"/>
              </a:ext>
            </a:extLst>
          </p:cNvPr>
          <p:cNvSpPr txBox="1">
            <a:spLocks/>
          </p:cNvSpPr>
          <p:nvPr/>
        </p:nvSpPr>
        <p:spPr>
          <a:xfrm>
            <a:off x="2823677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Евгений Чистяков</a:t>
            </a:r>
          </a:p>
        </p:txBody>
      </p:sp>
      <p:sp>
        <p:nvSpPr>
          <p:cNvPr id="59" name="Скругленный прямоугольник 58">
            <a:extLst>
              <a:ext uri="{FF2B5EF4-FFF2-40B4-BE49-F238E27FC236}">
                <a16:creationId xmlns:a16="http://schemas.microsoft.com/office/drawing/2014/main" id="{0F406257-4D6A-D88A-21D7-91882F262CF5}"/>
              </a:ext>
            </a:extLst>
          </p:cNvPr>
          <p:cNvSpPr/>
          <p:nvPr/>
        </p:nvSpPr>
        <p:spPr>
          <a:xfrm>
            <a:off x="4956712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0" name="Текст 8">
            <a:extLst>
              <a:ext uri="{FF2B5EF4-FFF2-40B4-BE49-F238E27FC236}">
                <a16:creationId xmlns:a16="http://schemas.microsoft.com/office/drawing/2014/main" id="{44C1868D-BA5E-04C0-2882-2494450EF9D6}"/>
              </a:ext>
            </a:extLst>
          </p:cNvPr>
          <p:cNvSpPr txBox="1">
            <a:spLocks/>
          </p:cNvSpPr>
          <p:nvPr/>
        </p:nvSpPr>
        <p:spPr>
          <a:xfrm>
            <a:off x="5128996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слот не занят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—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—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—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61" name="Текст 8">
            <a:extLst>
              <a:ext uri="{FF2B5EF4-FFF2-40B4-BE49-F238E27FC236}">
                <a16:creationId xmlns:a16="http://schemas.microsoft.com/office/drawing/2014/main" id="{1A52C52A-3120-DA42-507D-5AE477E99E60}"/>
              </a:ext>
            </a:extLst>
          </p:cNvPr>
          <p:cNvSpPr txBox="1">
            <a:spLocks/>
          </p:cNvSpPr>
          <p:nvPr/>
        </p:nvSpPr>
        <p:spPr>
          <a:xfrm>
            <a:off x="5128995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—</a:t>
            </a:r>
          </a:p>
        </p:txBody>
      </p:sp>
      <p:sp>
        <p:nvSpPr>
          <p:cNvPr id="62" name="Скругленный прямоугольник 61">
            <a:extLst>
              <a:ext uri="{FF2B5EF4-FFF2-40B4-BE49-F238E27FC236}">
                <a16:creationId xmlns:a16="http://schemas.microsoft.com/office/drawing/2014/main" id="{D1FBCE3B-1D71-DB46-9E48-C63F3ADD4968}"/>
              </a:ext>
            </a:extLst>
          </p:cNvPr>
          <p:cNvSpPr/>
          <p:nvPr/>
        </p:nvSpPr>
        <p:spPr>
          <a:xfrm>
            <a:off x="7262031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3" name="Текст 8">
            <a:extLst>
              <a:ext uri="{FF2B5EF4-FFF2-40B4-BE49-F238E27FC236}">
                <a16:creationId xmlns:a16="http://schemas.microsoft.com/office/drawing/2014/main" id="{CB4F394B-14E6-36F0-A4B2-EFA5843E9DB6}"/>
              </a:ext>
            </a:extLst>
          </p:cNvPr>
          <p:cNvSpPr txBox="1">
            <a:spLocks/>
          </p:cNvSpPr>
          <p:nvPr/>
        </p:nvSpPr>
        <p:spPr>
          <a:xfrm>
            <a:off x="7434315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слот не занят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—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—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—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64" name="Текст 8">
            <a:extLst>
              <a:ext uri="{FF2B5EF4-FFF2-40B4-BE49-F238E27FC236}">
                <a16:creationId xmlns:a16="http://schemas.microsoft.com/office/drawing/2014/main" id="{FF91B8FA-A68A-4E4D-B286-02AF30BFB771}"/>
              </a:ext>
            </a:extLst>
          </p:cNvPr>
          <p:cNvSpPr txBox="1">
            <a:spLocks/>
          </p:cNvSpPr>
          <p:nvPr/>
        </p:nvSpPr>
        <p:spPr>
          <a:xfrm>
            <a:off x="7434314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—</a:t>
            </a:r>
          </a:p>
        </p:txBody>
      </p:sp>
      <p:sp>
        <p:nvSpPr>
          <p:cNvPr id="65" name="Скругленный прямоугольник 64">
            <a:extLst>
              <a:ext uri="{FF2B5EF4-FFF2-40B4-BE49-F238E27FC236}">
                <a16:creationId xmlns:a16="http://schemas.microsoft.com/office/drawing/2014/main" id="{603D078F-23CD-0C3A-EF6E-9FA3818E22BC}"/>
              </a:ext>
            </a:extLst>
          </p:cNvPr>
          <p:cNvSpPr/>
          <p:nvPr/>
        </p:nvSpPr>
        <p:spPr>
          <a:xfrm>
            <a:off x="9567349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6" name="Текст 8">
            <a:extLst>
              <a:ext uri="{FF2B5EF4-FFF2-40B4-BE49-F238E27FC236}">
                <a16:creationId xmlns:a16="http://schemas.microsoft.com/office/drawing/2014/main" id="{575DCA32-E606-5EE7-1034-420DB36234D1}"/>
              </a:ext>
            </a:extLst>
          </p:cNvPr>
          <p:cNvSpPr txBox="1">
            <a:spLocks/>
          </p:cNvSpPr>
          <p:nvPr/>
        </p:nvSpPr>
        <p:spPr>
          <a:xfrm>
            <a:off x="9739633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слот не занят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—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—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—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67" name="Текст 8">
            <a:extLst>
              <a:ext uri="{FF2B5EF4-FFF2-40B4-BE49-F238E27FC236}">
                <a16:creationId xmlns:a16="http://schemas.microsoft.com/office/drawing/2014/main" id="{9E3872F7-FC5C-5043-A741-AF2746714BA2}"/>
              </a:ext>
            </a:extLst>
          </p:cNvPr>
          <p:cNvSpPr txBox="1">
            <a:spLocks/>
          </p:cNvSpPr>
          <p:nvPr/>
        </p:nvSpPr>
        <p:spPr>
          <a:xfrm>
            <a:off x="9739632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—</a:t>
            </a: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FC0035EA-559C-020F-D4A8-B4146A26E8E5}"/>
              </a:ext>
            </a:extLst>
          </p:cNvPr>
          <p:cNvSpPr/>
          <p:nvPr/>
        </p:nvSpPr>
        <p:spPr>
          <a:xfrm>
            <a:off x="346076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Скругленный прямоугольник 12">
            <a:extLst>
              <a:ext uri="{FF2B5EF4-FFF2-40B4-BE49-F238E27FC236}">
                <a16:creationId xmlns:a16="http://schemas.microsoft.com/office/drawing/2014/main" id="{4F9EEB10-D234-64E3-5744-B3981F11A494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ADFA4405-6EC1-3A52-92A7-2CA2130BB2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9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Рисунок 1">
            <a:extLst>
              <a:ext uri="{FF2B5EF4-FFF2-40B4-BE49-F238E27FC236}">
                <a16:creationId xmlns:a16="http://schemas.microsoft.com/office/drawing/2014/main" id="{4C94D4FF-301C-477D-8018-73C5CC99D4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581397" y="1816054"/>
            <a:ext cx="1722566" cy="1552901"/>
          </a:xfrm>
        </p:spPr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855F75D9-2AE8-476E-3BFF-E3DD59A60081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2886467" y="1826554"/>
            <a:ext cx="1722566" cy="1542401"/>
          </a:xfrm>
        </p:spPr>
      </p:sp>
      <p:sp>
        <p:nvSpPr>
          <p:cNvPr id="4" name="Рисунок 3">
            <a:extLst>
              <a:ext uri="{FF2B5EF4-FFF2-40B4-BE49-F238E27FC236}">
                <a16:creationId xmlns:a16="http://schemas.microsoft.com/office/drawing/2014/main" id="{767E99FD-70C0-A2B6-EA8E-C07EBA0B37E0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5191784" y="1809238"/>
            <a:ext cx="1722567" cy="1559717"/>
          </a:xfrm>
        </p:spPr>
      </p:sp>
      <p:sp>
        <p:nvSpPr>
          <p:cNvPr id="5" name="Рисунок 4">
            <a:extLst>
              <a:ext uri="{FF2B5EF4-FFF2-40B4-BE49-F238E27FC236}">
                <a16:creationId xmlns:a16="http://schemas.microsoft.com/office/drawing/2014/main" id="{D6C4749F-7C67-9CD8-7C7C-023BB23DC622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7520208" y="1809238"/>
            <a:ext cx="1722567" cy="1559717"/>
          </a:xfrm>
        </p:spPr>
      </p:sp>
      <p:sp>
        <p:nvSpPr>
          <p:cNvPr id="6" name="Рисунок 5">
            <a:extLst>
              <a:ext uri="{FF2B5EF4-FFF2-40B4-BE49-F238E27FC236}">
                <a16:creationId xmlns:a16="http://schemas.microsoft.com/office/drawing/2014/main" id="{B1F74E3B-D178-4815-DD0C-A02592AA14E6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9802422" y="1809238"/>
            <a:ext cx="1722566" cy="1559717"/>
          </a:xfrm>
        </p:spPr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A8302BF4-F579-F30C-0D0B-9EC587DE2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59" y="449787"/>
            <a:ext cx="9862734" cy="376138"/>
          </a:xfrm>
        </p:spPr>
        <p:txBody>
          <a:bodyPr/>
          <a:lstStyle/>
          <a:p>
            <a:endParaRPr lang="ru-RU" dirty="0">
              <a:latin typeface="+mn-lt"/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392728C-0D28-63FE-46DB-BBDA5226DAE1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18360" y="4250028"/>
            <a:ext cx="1894354" cy="1624612"/>
          </a:xfrm>
        </p:spPr>
        <p:txBody>
          <a:bodyPr>
            <a:normAutofit/>
          </a:bodyPr>
          <a:lstStyle/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слот не занят</a:t>
            </a:r>
          </a:p>
          <a:p>
            <a:pPr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—</a:t>
            </a:r>
          </a:p>
          <a:p>
            <a:pPr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—</a:t>
            </a:r>
          </a:p>
          <a:p>
            <a:pPr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—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34A1767C-75B2-E3D4-5057-DD85E6AB1440}"/>
              </a:ext>
            </a:extLst>
          </p:cNvPr>
          <p:cNvSpPr txBox="1">
            <a:spLocks/>
          </p:cNvSpPr>
          <p:nvPr/>
        </p:nvSpPr>
        <p:spPr>
          <a:xfrm>
            <a:off x="518359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—</a:t>
            </a:r>
          </a:p>
        </p:txBody>
      </p:sp>
    </p:spTree>
    <p:extLst>
      <p:ext uri="{BB962C8B-B14F-4D97-AF65-F5344CB8AC3E}">
        <p14:creationId xmlns:p14="http://schemas.microsoft.com/office/powerpoint/2010/main" val="9221470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12D283-FCC2-40D9-9CEA-EF1BD3595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9376089D-9A77-730A-ADAF-A685C17F1AED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74006CB4-BD4D-EF41-3DCA-EDB126B848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10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9F7DE1A9-1AD8-0498-5446-8F5D40911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849" y="449787"/>
            <a:ext cx="9862734" cy="376138"/>
          </a:xfrm>
        </p:spPr>
        <p:txBody>
          <a:bodyPr/>
          <a:lstStyle/>
          <a:p>
            <a:endParaRPr lang="ru-RU" dirty="0">
              <a:latin typeface="+mn-lt"/>
            </a:endParaRPr>
          </a:p>
        </p:txBody>
      </p:sp>
      <p:sp>
        <p:nvSpPr>
          <p:cNvPr id="37" name="Текст 8">
            <a:extLst>
              <a:ext uri="{FF2B5EF4-FFF2-40B4-BE49-F238E27FC236}">
                <a16:creationId xmlns:a16="http://schemas.microsoft.com/office/drawing/2014/main" id="{C7B87D78-5037-F48A-F05C-8E80D4A5A4D0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33607" y="1602273"/>
            <a:ext cx="4425822" cy="9342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Один разработчик. Стенд и кабинеты живут в одном процессе. Боевого реестра ФСП на хакатоне нет — достижения читаются из JSON в git.</a:t>
            </a:r>
          </a:p>
        </p:txBody>
      </p:sp>
      <p:sp>
        <p:nvSpPr>
          <p:cNvPr id="38" name="Текст 8">
            <a:extLst>
              <a:ext uri="{FF2B5EF4-FFF2-40B4-BE49-F238E27FC236}">
                <a16:creationId xmlns:a16="http://schemas.microsoft.com/office/drawing/2014/main" id="{BAD76A99-219B-023F-35AA-74EDFF6A51FC}"/>
              </a:ext>
            </a:extLst>
          </p:cNvPr>
          <p:cNvSpPr txBox="1">
            <a:spLocks/>
          </p:cNvSpPr>
          <p:nvPr/>
        </p:nvSpPr>
        <p:spPr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Краткая история команды:</a:t>
            </a:r>
          </a:p>
        </p:txBody>
      </p:sp>
      <p:sp>
        <p:nvSpPr>
          <p:cNvPr id="40" name="Текст 8">
            <a:extLst>
              <a:ext uri="{FF2B5EF4-FFF2-40B4-BE49-F238E27FC236}">
                <a16:creationId xmlns:a16="http://schemas.microsoft.com/office/drawing/2014/main" id="{A812662F-49C9-0A37-1671-EE5E187C65D2}"/>
              </a:ext>
            </a:extLst>
          </p:cNvPr>
          <p:cNvSpPr txBox="1">
            <a:spLocks/>
          </p:cNvSpPr>
          <p:nvPr/>
        </p:nvSpPr>
        <p:spPr>
          <a:xfrm>
            <a:off x="533607" y="5139255"/>
            <a:ext cx="7318749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Категорию нельзя собрать из резюме. Приглашение нельзя сохранить без обеих границ вилки в рублях и контакта компании. Пустая история ФСП должна отображаться без ошибки загрузки.</a:t>
            </a:r>
            <a:r>
              <a:rPr lang="en-US" dirty="0">
                <a:solidFill>
                  <a:schemeClr val="tx1"/>
                </a:solidFill>
              </a:rPr>
              <a:t xml:space="preserve"> </a:t>
            </a:r>
            <a:r>
              <a:rPr lang="ru-RU" dirty="0">
                <a:solidFill>
                  <a:schemeClr val="tx1"/>
                </a:solidFill>
              </a:rPr>
              <a:t xml:space="preserve"> </a:t>
            </a:r>
            <a:endParaRPr lang="en-US" dirty="0">
              <a:solidFill>
                <a:schemeClr val="tx1"/>
              </a:solidFill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 xml:space="preserve"> </a:t>
            </a:r>
            <a:r>
              <a:rPr lang="en-US" dirty="0">
                <a:solidFill>
                  <a:schemeClr val="tx1"/>
                </a:solidFill>
              </a:rPr>
              <a:t xml:space="preserve"> 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ru-RU" dirty="0">
                <a:solidFill>
                  <a:schemeClr val="tx1"/>
                </a:solidFill>
              </a:rPr>
              <a:t xml:space="preserve"> </a:t>
            </a:r>
          </a:p>
        </p:txBody>
      </p:sp>
      <p:sp>
        <p:nvSpPr>
          <p:cNvPr id="41" name="Текст 8">
            <a:extLst>
              <a:ext uri="{FF2B5EF4-FFF2-40B4-BE49-F238E27FC236}">
                <a16:creationId xmlns:a16="http://schemas.microsoft.com/office/drawing/2014/main" id="{1AF2119E-43D8-37AF-C511-A59B0DD883B0}"/>
              </a:ext>
            </a:extLst>
          </p:cNvPr>
          <p:cNvSpPr txBox="1">
            <a:spLocks/>
          </p:cNvSpPr>
          <p:nvPr/>
        </p:nvSpPr>
        <p:spPr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 xml:space="preserve">С какими основными сложностями или вызовами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вы столкнулись и как их преодолели?</a:t>
            </a:r>
          </a:p>
        </p:txBody>
      </p:sp>
      <p:sp>
        <p:nvSpPr>
          <p:cNvPr id="43" name="Текст 8">
            <a:extLst>
              <a:ext uri="{FF2B5EF4-FFF2-40B4-BE49-F238E27FC236}">
                <a16:creationId xmlns:a16="http://schemas.microsoft.com/office/drawing/2014/main" id="{819ADE62-86A0-41CF-FEBE-6AC207E6AB95}"/>
              </a:ext>
            </a:extLst>
          </p:cNvPr>
          <p:cNvSpPr txBox="1">
            <a:spLocks/>
          </p:cNvSpPr>
          <p:nvPr/>
        </p:nvSpPr>
        <p:spPr>
          <a:xfrm>
            <a:off x="533607" y="3429000"/>
            <a:ext cx="4945565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Универсальные площадки не подтверждают грейд и не знают соревновательный профиль. ФСП даёт проверяемые результаты, а работодателю нужна категория, а не лента чужих вакансий.</a:t>
            </a:r>
          </a:p>
        </p:txBody>
      </p:sp>
      <p:sp>
        <p:nvSpPr>
          <p:cNvPr id="44" name="Текст 8">
            <a:extLst>
              <a:ext uri="{FF2B5EF4-FFF2-40B4-BE49-F238E27FC236}">
                <a16:creationId xmlns:a16="http://schemas.microsoft.com/office/drawing/2014/main" id="{A0EBDB05-E223-F4C0-4AF4-743B80D718E1}"/>
              </a:ext>
            </a:extLst>
          </p:cNvPr>
          <p:cNvSpPr txBox="1">
            <a:spLocks/>
          </p:cNvSpPr>
          <p:nvPr/>
        </p:nvSpPr>
        <p:spPr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 xml:space="preserve">Почему вы выбрали именно эту задачу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из предложенных на хакатоне?</a:t>
            </a:r>
          </a:p>
        </p:txBody>
      </p:sp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8462540F-CBE5-F86F-AD60-3D1A03F73EED}"/>
              </a:ext>
            </a:extLst>
          </p:cNvPr>
          <p:cNvCxnSpPr>
            <a:cxnSpLocks/>
          </p:cNvCxnSpPr>
          <p:nvPr/>
        </p:nvCxnSpPr>
        <p:spPr>
          <a:xfrm>
            <a:off x="623888" y="2745691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43B6B201-8F98-911C-C812-B6DD350A7909}"/>
              </a:ext>
            </a:extLst>
          </p:cNvPr>
          <p:cNvCxnSpPr>
            <a:cxnSpLocks/>
          </p:cNvCxnSpPr>
          <p:nvPr/>
        </p:nvCxnSpPr>
        <p:spPr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935A7CAA-85B0-3D33-9D92-74AF00456FDE}"/>
              </a:ext>
            </a:extLst>
          </p:cNvPr>
          <p:cNvCxnSpPr>
            <a:cxnSpLocks/>
          </p:cNvCxnSpPr>
          <p:nvPr/>
        </p:nvCxnSpPr>
        <p:spPr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9" name="Текст 8">
            <a:extLst>
              <a:ext uri="{FF2B5EF4-FFF2-40B4-BE49-F238E27FC236}">
                <a16:creationId xmlns:a16="http://schemas.microsoft.com/office/drawing/2014/main" id="{DE3DBF43-8386-18C6-2DBB-93FBC617A211}"/>
              </a:ext>
            </a:extLst>
          </p:cNvPr>
          <p:cNvSpPr txBox="1">
            <a:spLocks/>
          </p:cNvSpPr>
          <p:nvPr/>
        </p:nvSpPr>
        <p:spPr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ru-RU" b="1" dirty="0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1" name="Текст 8">
            <a:extLst>
              <a:ext uri="{FF2B5EF4-FFF2-40B4-BE49-F238E27FC236}">
                <a16:creationId xmlns:a16="http://schemas.microsoft.com/office/drawing/2014/main" id="{1C998835-697E-638C-C9A8-992A3CFE1585}"/>
              </a:ext>
            </a:extLst>
          </p:cNvPr>
          <p:cNvSpPr txBox="1">
            <a:spLocks/>
          </p:cNvSpPr>
          <p:nvPr/>
        </p:nvSpPr>
        <p:spPr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2" name="Текст 8">
            <a:extLst>
              <a:ext uri="{FF2B5EF4-FFF2-40B4-BE49-F238E27FC236}">
                <a16:creationId xmlns:a16="http://schemas.microsoft.com/office/drawing/2014/main" id="{63CDAC47-57C1-8743-C534-E78438BFEAB6}"/>
              </a:ext>
            </a:extLst>
          </p:cNvPr>
          <p:cNvSpPr txBox="1">
            <a:spLocks/>
          </p:cNvSpPr>
          <p:nvPr/>
        </p:nvSpPr>
        <p:spPr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355111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750912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11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89493" y="1920927"/>
            <a:ext cx="4929861" cy="3868581"/>
          </a:xfrm>
        </p:spPr>
        <p:txBody>
          <a:bodyPr>
            <a:normAutofit/>
          </a:bodyPr>
          <a:lstStyle/>
          <a:p>
            <a:r>
              <a:rPr lang="ru-RU" sz="1400" dirty="0">
                <a:solidFill>
                  <a:schemeClr val="tx1"/>
                </a:solidFill>
              </a:rPr>
              <a:t>Монолит Python 3.12: Jinja2 и локальный htmx, FastAPI, один файл SQLite в режиме WAL. Кабинеты и API — один worker uvicorn. Запуск только командой docker compose -f deploy/fsp/compose.yaml up --build. Кабинеты: http://127.0.0.1:8000. Мок достижений — product/fsp_mock, шаблоны теста лежат в git и на проходе не переписываются.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513513" y="1920927"/>
            <a:ext cx="4957144" cy="3876445"/>
          </a:xfrm>
        </p:spPr>
        <p:txBody>
          <a:bodyPr>
            <a:normAutofit/>
          </a:bodyPr>
          <a:lstStyle/>
          <a:p>
            <a:r>
              <a:rPr lang="ru-RU" sz="1400" dirty="0">
                <a:solidFill>
                  <a:schemeClr val="tx1"/>
                </a:solidFill>
              </a:rPr>
              <a:t>Обратная механика: работодатель сам находит категорию и пишет человеку. Вилка в рублях видна сразу, почта соискателя — только после accepted. Отрасль MVP только it и в category_id не входит.</a:t>
            </a:r>
            <a:br>
              <a:rPr lang="ru-RU" sz="1400" dirty="0">
                <a:solidFill>
                  <a:schemeClr val="tx1"/>
                </a:solidFill>
              </a:rPr>
            </a:br>
            <a:r>
              <a:rPr lang="ru-RU" sz="1400" dirty="0">
                <a:solidFill>
                  <a:schemeClr val="tx1"/>
                </a:solidFill>
              </a:rPr>
              <a:t xml:space="preserve"> </a:t>
            </a:r>
          </a:p>
          <a:p>
            <a:pPr marL="0" indent="0">
              <a:buNone/>
            </a:pPr>
            <a:endParaRPr lang="ru-RU" sz="1400" dirty="0">
              <a:solidFill>
                <a:schemeClr val="tx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56851"/>
            <a:ext cx="9862734" cy="376138"/>
          </a:xfrm>
        </p:spPr>
        <p:txBody>
          <a:bodyPr/>
          <a:lstStyle/>
          <a:p>
            <a:r>
              <a:rPr lang="ru-RU" dirty="0"/>
              <a:t>КОРОТКО О РЕШЕНИИ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Техническая суть решения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Маркетинговая суть решения</a:t>
            </a:r>
          </a:p>
          <a:p>
            <a:pPr>
              <a:lnSpc>
                <a:spcPct val="100000"/>
              </a:lnSpc>
            </a:pPr>
            <a:endParaRPr lang="ru-RU" b="1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987764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41B6129-4E5A-20E2-763B-F5010C6110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8974761F-D4F8-560C-B069-01DF6B0C0103}"/>
              </a:ext>
            </a:extLst>
          </p:cNvPr>
          <p:cNvSpPr/>
          <p:nvPr/>
        </p:nvSpPr>
        <p:spPr>
          <a:xfrm>
            <a:off x="0" y="0"/>
            <a:ext cx="6456363" cy="6858000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9" name="Объект 28">
            <a:extLst>
              <a:ext uri="{FF2B5EF4-FFF2-40B4-BE49-F238E27FC236}">
                <a16:creationId xmlns:a16="http://schemas.microsoft.com/office/drawing/2014/main" id="{02AA36D4-0DFA-1A2E-6B29-8BA1BF5F96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133" y="1263123"/>
            <a:ext cx="5574868" cy="4937652"/>
          </a:xfrm>
        </p:spPr>
        <p:txBody>
          <a:bodyPr/>
          <a:lstStyle/>
          <a:p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4CAD271A-25D6-5986-96AF-8705ED30C1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12</a:t>
            </a:fld>
            <a:endParaRPr lang="ru-RU" dirty="0"/>
          </a:p>
        </p:txBody>
      </p:sp>
      <p:sp>
        <p:nvSpPr>
          <p:cNvPr id="28" name="Заголовок 27">
            <a:extLst>
              <a:ext uri="{FF2B5EF4-FFF2-40B4-BE49-F238E27FC236}">
                <a16:creationId xmlns:a16="http://schemas.microsoft.com/office/drawing/2014/main" id="{EA3A5BFD-C872-ACEC-AC6D-6D57CA4340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7444" y="395288"/>
            <a:ext cx="5574868" cy="425729"/>
          </a:xfrm>
        </p:spPr>
        <p:txBody>
          <a:bodyPr/>
          <a:lstStyle/>
          <a:p>
            <a:endParaRPr lang="ru-RU" sz="2000" dirty="0">
              <a:solidFill>
                <a:schemeClr val="accent5"/>
              </a:solidFill>
            </a:endParaRPr>
          </a:p>
        </p:txBody>
      </p:sp>
      <p:sp>
        <p:nvSpPr>
          <p:cNvPr id="31" name="Caption"/>
          <p:cNvSpPr/>
          <p:nvPr/>
        </p:nvSpPr>
        <p:spPr>
          <a:xfrm>
            <a:off x="6583680" y="320040"/>
            <a:ext cx="530352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lang="ru-RU" sz="1800" dirty="0" b="1">
                <a:solidFill>
                  <a:srgbClr val="FFFFFF"/>
                </a:solidFill>
                <a:latin typeface="Montserrat"/>
              </a:rPr>
              <a:t>Регистрация с согласием</a:t>
            </a:r>
          </a:p>
        </p:txBody>
      </p:sp>
      <p:pic>
        <p:nvPicPr>
          <p:cNvPr id="32" name="Регистрация с согласием" descr="Регистрация с согласием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400" y="960120"/>
            <a:ext cx="5212080" cy="3257550"/>
          </a:xfrm>
          <a:prstGeom prst="rect">
            <a:avLst/>
          </a:prstGeom>
        </p:spPr>
      </p:pic>
      <p:sp>
        <p:nvSpPr>
          <p:cNvPr id="33" name="Caption"/>
          <p:cNvSpPr/>
          <p:nvPr/>
        </p:nvSpPr>
        <p:spPr>
          <a:xfrm>
            <a:off x="6583680" y="6355080"/>
            <a:ext cx="530352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lang="ru-RU" sz="1100" dirty="0">
                <a:solidFill>
                  <a:srgbClr val="FFFFFF"/>
                </a:solidFill>
                <a:latin typeface="Montserrat"/>
              </a:rPr>
              <a:t>Кабинет соискателя, живой стенд</a:t>
            </a:r>
          </a:p>
        </p:txBody>
      </p:sp>
      <p:pic>
        <p:nvPicPr>
          <p:cNvPr id="34" name="Код на странице" descr="Код на странице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9400" y="3794760"/>
            <a:ext cx="3803904" cy="23774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071537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AE39BFA-C414-3731-3F05-E28FB015D4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6080F467-69D9-0742-2978-0590E2BF440F}"/>
              </a:ext>
            </a:extLst>
          </p:cNvPr>
          <p:cNvSpPr/>
          <p:nvPr/>
        </p:nvSpPr>
        <p:spPr>
          <a:xfrm>
            <a:off x="325170" y="1304256"/>
            <a:ext cx="11541659" cy="5052102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27ECECA-D19C-BF71-E687-EC21A32737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3888" y="1556279"/>
            <a:ext cx="10789619" cy="3745441"/>
          </a:xfrm>
        </p:spPr>
        <p:txBody>
          <a:bodyPr/>
          <a:lstStyle/>
          <a:p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D48EA9B5-E41A-C397-3CFE-F967E98FC7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13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F975DC-7FFC-8C16-7A6D-78D26FCBD5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104" y="414049"/>
            <a:ext cx="5994696" cy="552061"/>
          </a:xfrm>
        </p:spPr>
        <p:txBody>
          <a:bodyPr/>
          <a:lstStyle/>
          <a:p>
            <a:endParaRPr lang="ru-RU" sz="3600" dirty="0">
              <a:solidFill>
                <a:schemeClr val="bg1"/>
              </a:solidFill>
            </a:endParaRPr>
          </a:p>
        </p:txBody>
      </p:sp>
      <p:sp>
        <p:nvSpPr>
          <p:cNvPr id="22" name="Caption"/>
          <p:cNvSpPr/>
          <p:nvPr/>
        </p:nvSpPr>
        <p:spPr>
          <a:xfrm>
            <a:off x="6583680" y="320040"/>
            <a:ext cx="530352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lang="ru-RU" sz="1800" dirty="0" b="1">
                <a:solidFill>
                  <a:srgbClr val="FFFFFF"/>
                </a:solidFill>
                <a:latin typeface="Montserrat"/>
              </a:rPr>
              <a:t>Анкета и тест записанного грейда</a:t>
            </a:r>
          </a:p>
        </p:txBody>
      </p:sp>
      <p:pic>
        <p:nvPicPr>
          <p:cNvPr id="23" name="Анкета и тест записанного грейда" descr="Анкета и тест записанного грейда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400" y="960120"/>
            <a:ext cx="5212080" cy="3619500"/>
          </a:xfrm>
          <a:prstGeom prst="rect">
            <a:avLst/>
          </a:prstGeom>
        </p:spPr>
      </p:pic>
      <p:sp>
        <p:nvSpPr>
          <p:cNvPr id="24" name="Caption"/>
          <p:cNvSpPr/>
          <p:nvPr/>
        </p:nvSpPr>
        <p:spPr>
          <a:xfrm>
            <a:off x="6583680" y="6355080"/>
            <a:ext cx="530352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lang="ru-RU" sz="1100" dirty="0">
                <a:solidFill>
                  <a:srgbClr val="FFFFFF"/>
                </a:solidFill>
                <a:latin typeface="Montserrat"/>
              </a:rPr>
              <a:t>Шаблон выбирается по profile_id, на проходе не меняется</a:t>
            </a:r>
          </a:p>
        </p:txBody>
      </p:sp>
    </p:spTree>
    <p:extLst>
      <p:ext uri="{BB962C8B-B14F-4D97-AF65-F5344CB8AC3E}">
        <p14:creationId xmlns:p14="http://schemas.microsoft.com/office/powerpoint/2010/main" val="232040327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Скругленный прямоугольник 8">
            <a:extLst>
              <a:ext uri="{FF2B5EF4-FFF2-40B4-BE49-F238E27FC236}">
                <a16:creationId xmlns:a16="http://schemas.microsoft.com/office/drawing/2014/main" id="{D181C43B-81A7-CE1F-8FD8-59408853402A}"/>
              </a:ext>
            </a:extLst>
          </p:cNvPr>
          <p:cNvSpPr/>
          <p:nvPr/>
        </p:nvSpPr>
        <p:spPr>
          <a:xfrm>
            <a:off x="346075" y="266006"/>
            <a:ext cx="5354638" cy="6331643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E1A398F8-7100-0AC0-7CC3-53622EA3457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14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F8E8540A-FBD5-3747-09FA-CD79C4EC2F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2040" y="496888"/>
            <a:ext cx="4781233" cy="415925"/>
          </a:xfrm>
        </p:spPr>
        <p:txBody>
          <a:bodyPr/>
          <a:lstStyle/>
          <a:p>
            <a:endParaRPr lang="ru-RU" sz="2000" dirty="0">
              <a:solidFill>
                <a:schemeClr val="accent5"/>
              </a:solidFill>
            </a:endParaRPr>
          </a:p>
        </p:txBody>
      </p:sp>
      <p:sp>
        <p:nvSpPr>
          <p:cNvPr id="4" name="Рисунок 3">
            <a:extLst>
              <a:ext uri="{FF2B5EF4-FFF2-40B4-BE49-F238E27FC236}">
                <a16:creationId xmlns:a16="http://schemas.microsoft.com/office/drawing/2014/main" id="{97D71A7D-1E9E-F7B1-53EA-139E488DA2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096001" y="0"/>
            <a:ext cx="6096000" cy="6857999"/>
          </a:xfrm>
        </p:spPr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953FFDF6-D432-8336-B879-D98A3341FCD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95433" y="1143695"/>
            <a:ext cx="4807840" cy="4717356"/>
          </a:xfrm>
        </p:spPr>
        <p:txBody>
          <a:bodyPr/>
          <a:lstStyle/>
          <a:p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0" name="Caption"/>
          <p:cNvSpPr/>
          <p:nvPr/>
        </p:nvSpPr>
        <p:spPr>
          <a:xfrm>
            <a:off x="6583680" y="320040"/>
            <a:ext cx="530352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lang="ru-RU" sz="1800" dirty="0" b="1">
                <a:solidFill>
                  <a:srgbClr val="FFFFFF"/>
                </a:solidFill>
                <a:latin typeface="Montserrat"/>
              </a:rPr>
              <a:t>Категория = специализация + грейд</a:t>
            </a:r>
          </a:p>
        </p:txBody>
      </p:sp>
      <p:pic>
        <p:nvPicPr>
          <p:cNvPr id="11" name="Категория = специализация + грейд" descr="Категория = специализация + грейд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9400" y="960120"/>
            <a:ext cx="5212080" cy="3257550"/>
          </a:xfrm>
          <a:prstGeom prst="rect">
            <a:avLst/>
          </a:prstGeom>
        </p:spPr>
      </p:pic>
      <p:sp>
        <p:nvSpPr>
          <p:cNvPr id="12" name="Caption"/>
          <p:cNvSpPr/>
          <p:nvPr/>
        </p:nvSpPr>
        <p:spPr>
          <a:xfrm>
            <a:off x="6583680" y="6355080"/>
            <a:ext cx="530352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lang="ru-RU" sz="1100" dirty="0">
                <a:solidFill>
                  <a:srgbClr val="FFFFFF"/>
                </a:solidFill>
                <a:latin typeface="Montserrat"/>
              </a:rPr>
              <a:t>Отрасль it в статусе, в category_id не входит</a:t>
            </a:r>
          </a:p>
        </p:txBody>
      </p:sp>
    </p:spTree>
    <p:extLst>
      <p:ext uri="{BB962C8B-B14F-4D97-AF65-F5344CB8AC3E}">
        <p14:creationId xmlns:p14="http://schemas.microsoft.com/office/powerpoint/2010/main" val="120171671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A0664B9-F30D-B51A-EC08-2389E212D2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5">
            <a:extLst>
              <a:ext uri="{FF2B5EF4-FFF2-40B4-BE49-F238E27FC236}">
                <a16:creationId xmlns:a16="http://schemas.microsoft.com/office/drawing/2014/main" id="{80060758-64A6-F41E-1825-51ECED5214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90" y="370426"/>
            <a:ext cx="5562510" cy="442374"/>
          </a:xfrm>
        </p:spPr>
        <p:txBody>
          <a:bodyPr/>
          <a:lstStyle/>
          <a:p>
            <a:endParaRPr lang="ru-RU" sz="2000" dirty="0">
              <a:solidFill>
                <a:schemeClr val="accent5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52DB1C19-1756-5691-5F80-177F3A79D35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21133" y="1695025"/>
            <a:ext cx="4902200" cy="712587"/>
          </a:xfrm>
        </p:spPr>
        <p:txBody>
          <a:bodyPr/>
          <a:lstStyle/>
          <a:p>
            <a:endParaRPr lang="ru-RU">
              <a:solidFill>
                <a:schemeClr val="tx1"/>
              </a:solidFill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40CC1337-8037-C8D6-4F63-245C2AF4E7A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21133" y="2552035"/>
            <a:ext cx="4902200" cy="712587"/>
          </a:xfrm>
        </p:spPr>
        <p:txBody>
          <a:bodyPr/>
          <a:lstStyle/>
          <a:p>
            <a:endParaRPr lang="ru-RU">
              <a:solidFill>
                <a:schemeClr val="tx1"/>
              </a:solidFill>
            </a:endParaRP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35A27D79-7CA2-000D-5EC5-DB6887DB4E4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21133" y="3409044"/>
            <a:ext cx="4902200" cy="712587"/>
          </a:xfrm>
        </p:spPr>
        <p:txBody>
          <a:bodyPr/>
          <a:lstStyle/>
          <a:p>
            <a:endParaRPr lang="ru-RU">
              <a:solidFill>
                <a:schemeClr val="tx1"/>
              </a:solidFill>
            </a:endParaRP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49701722-A703-6CF6-2014-059F040DC58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21133" y="4266053"/>
            <a:ext cx="4902200" cy="712587"/>
          </a:xfrm>
        </p:spPr>
        <p:txBody>
          <a:bodyPr/>
          <a:lstStyle/>
          <a:p>
            <a:endParaRPr lang="ru-RU">
              <a:solidFill>
                <a:schemeClr val="tx1"/>
              </a:solidFill>
            </a:endParaRPr>
          </a:p>
        </p:txBody>
      </p:sp>
      <p:sp>
        <p:nvSpPr>
          <p:cNvPr id="12" name="Текст 11">
            <a:extLst>
              <a:ext uri="{FF2B5EF4-FFF2-40B4-BE49-F238E27FC236}">
                <a16:creationId xmlns:a16="http://schemas.microsoft.com/office/drawing/2014/main" id="{DE50EEA6-DEC5-5666-7D6D-27F8E37664B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21133" y="5123063"/>
            <a:ext cx="4902200" cy="712587"/>
          </a:xfrm>
        </p:spPr>
        <p:txBody>
          <a:bodyPr/>
          <a:lstStyle/>
          <a:p>
            <a:endParaRPr lang="ru-RU">
              <a:solidFill>
                <a:schemeClr val="tx1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311126D8-C4EA-ED36-FA09-D0ED6388C8B6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441475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15</a:t>
            </a:fld>
            <a:endParaRPr lang="ru-RU" dirty="0">
              <a:solidFill>
                <a:schemeClr val="accent5"/>
              </a:solidFill>
            </a:endParaRPr>
          </a:p>
        </p:txBody>
      </p:sp>
      <p:cxnSp>
        <p:nvCxnSpPr>
          <p:cNvPr id="2" name="Прямая соединительная линия 1">
            <a:extLst>
              <a:ext uri="{FF2B5EF4-FFF2-40B4-BE49-F238E27FC236}">
                <a16:creationId xmlns:a16="http://schemas.microsoft.com/office/drawing/2014/main" id="{C40756DD-053E-22C9-6492-BAE6C92C555E}"/>
              </a:ext>
            </a:extLst>
          </p:cNvPr>
          <p:cNvCxnSpPr>
            <a:cxnSpLocks/>
          </p:cNvCxnSpPr>
          <p:nvPr/>
        </p:nvCxnSpPr>
        <p:spPr>
          <a:xfrm>
            <a:off x="521133" y="1604660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" name="Прямая соединительная линия 3">
            <a:extLst>
              <a:ext uri="{FF2B5EF4-FFF2-40B4-BE49-F238E27FC236}">
                <a16:creationId xmlns:a16="http://schemas.microsoft.com/office/drawing/2014/main" id="{00DEE536-8C7E-5FF9-89E1-82A9988D844D}"/>
              </a:ext>
            </a:extLst>
          </p:cNvPr>
          <p:cNvCxnSpPr>
            <a:cxnSpLocks/>
          </p:cNvCxnSpPr>
          <p:nvPr/>
        </p:nvCxnSpPr>
        <p:spPr>
          <a:xfrm>
            <a:off x="521133" y="246553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3" name="Прямая соединительная линия 12">
            <a:extLst>
              <a:ext uri="{FF2B5EF4-FFF2-40B4-BE49-F238E27FC236}">
                <a16:creationId xmlns:a16="http://schemas.microsoft.com/office/drawing/2014/main" id="{7E52340B-BDE2-4108-BF09-DF1807F1208F}"/>
              </a:ext>
            </a:extLst>
          </p:cNvPr>
          <p:cNvCxnSpPr>
            <a:cxnSpLocks/>
          </p:cNvCxnSpPr>
          <p:nvPr/>
        </p:nvCxnSpPr>
        <p:spPr>
          <a:xfrm>
            <a:off x="521133" y="334286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" name="Прямая соединительная линия 13">
            <a:extLst>
              <a:ext uri="{FF2B5EF4-FFF2-40B4-BE49-F238E27FC236}">
                <a16:creationId xmlns:a16="http://schemas.microsoft.com/office/drawing/2014/main" id="{9D24F87D-A790-746E-F6AE-485B863A9B3E}"/>
              </a:ext>
            </a:extLst>
          </p:cNvPr>
          <p:cNvCxnSpPr>
            <a:cxnSpLocks/>
          </p:cNvCxnSpPr>
          <p:nvPr/>
        </p:nvCxnSpPr>
        <p:spPr>
          <a:xfrm>
            <a:off x="521133" y="418312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5" name="Прямая соединительная линия 14">
            <a:extLst>
              <a:ext uri="{FF2B5EF4-FFF2-40B4-BE49-F238E27FC236}">
                <a16:creationId xmlns:a16="http://schemas.microsoft.com/office/drawing/2014/main" id="{319081A8-2E23-9ED5-DAF3-7F8B5653DD5D}"/>
              </a:ext>
            </a:extLst>
          </p:cNvPr>
          <p:cNvCxnSpPr>
            <a:cxnSpLocks/>
          </p:cNvCxnSpPr>
          <p:nvPr/>
        </p:nvCxnSpPr>
        <p:spPr>
          <a:xfrm>
            <a:off x="521133" y="5048098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22" name="Caption"/>
          <p:cNvSpPr/>
          <p:nvPr/>
        </p:nvSpPr>
        <p:spPr>
          <a:xfrm>
            <a:off x="6583680" y="320040"/>
            <a:ext cx="530352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lang="ru-RU" sz="1800" dirty="0" b="1">
                <a:solidFill>
                  <a:srgbClr val="FFFFFF"/>
                </a:solidFill>
                <a:latin typeface="Montserrat"/>
              </a:rPr>
              <a:t>fsp-synth-1: несколько дисциплин</a:t>
            </a:r>
          </a:p>
        </p:txBody>
      </p:sp>
      <p:pic>
        <p:nvPicPr>
          <p:cNvPr id="23" name="fsp-synth-1: несколько дисциплин" descr="fsp-synth-1: несколько дисциплин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400" y="960120"/>
            <a:ext cx="5212080" cy="3981450"/>
          </a:xfrm>
          <a:prstGeom prst="rect">
            <a:avLst/>
          </a:prstGeom>
        </p:spPr>
      </p:pic>
      <p:sp>
        <p:nvSpPr>
          <p:cNvPr id="24" name="Caption"/>
          <p:cNvSpPr/>
          <p:nvPr/>
        </p:nvSpPr>
        <p:spPr>
          <a:xfrm>
            <a:off x="6583680" y="6355080"/>
            <a:ext cx="530352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lang="ru-RU" sz="1100" dirty="0">
                <a:solidFill>
                  <a:srgbClr val="FFFFFF"/>
                </a:solidFill>
                <a:latin typeface="Montserrat"/>
              </a:rPr>
              <a:t>Разряд хранится строкой источника</a:t>
            </a:r>
          </a:p>
        </p:txBody>
      </p:sp>
    </p:spTree>
    <p:extLst>
      <p:ext uri="{BB962C8B-B14F-4D97-AF65-F5344CB8AC3E}">
        <p14:creationId xmlns:p14="http://schemas.microsoft.com/office/powerpoint/2010/main" val="367979363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8EE648F1-70BD-354A-6DAE-07E6E3044DC8}"/>
              </a:ext>
            </a:extLst>
          </p:cNvPr>
          <p:cNvSpPr/>
          <p:nvPr/>
        </p:nvSpPr>
        <p:spPr>
          <a:xfrm>
            <a:off x="3288425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5" name="Скругленный прямоугольник 24">
            <a:extLst>
              <a:ext uri="{FF2B5EF4-FFF2-40B4-BE49-F238E27FC236}">
                <a16:creationId xmlns:a16="http://schemas.microsoft.com/office/drawing/2014/main" id="{9B320FD4-0F75-8FB9-F799-AFA2CA575375}"/>
              </a:ext>
            </a:extLst>
          </p:cNvPr>
          <p:cNvSpPr/>
          <p:nvPr/>
        </p:nvSpPr>
        <p:spPr>
          <a:xfrm>
            <a:off x="9173123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16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0B115FEC-D79C-233C-419E-0B0BE3EB4A02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20913" y="2339783"/>
            <a:ext cx="2284071" cy="423628"/>
          </a:xfrm>
        </p:spPr>
        <p:txBody>
          <a:bodyPr/>
          <a:lstStyle/>
          <a:p>
            <a:endParaRPr lang="ru-RU" dirty="0">
              <a:solidFill>
                <a:srgbClr val="F9257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20913" y="3128740"/>
            <a:ext cx="2284071" cy="2797928"/>
          </a:xfrm>
        </p:spPr>
        <p:txBody>
          <a:bodyPr/>
          <a:lstStyle/>
          <a:p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2670742-0112-ABA9-7C47-FE6D64A30A91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3457903" y="2373557"/>
            <a:ext cx="2337416" cy="403756"/>
          </a:xfrm>
        </p:spPr>
        <p:txBody>
          <a:bodyPr/>
          <a:lstStyle/>
          <a:p>
            <a:endParaRPr lang="ru-RU" dirty="0">
              <a:solidFill>
                <a:srgbClr val="F92571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A5C658C-1FD4-CD12-D517-15F6F46CFE3C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3457903" y="3134070"/>
            <a:ext cx="2337416" cy="2797928"/>
          </a:xfrm>
        </p:spPr>
        <p:txBody>
          <a:bodyPr/>
          <a:lstStyle/>
          <a:p>
            <a:endParaRPr lang="ru-RU">
              <a:solidFill>
                <a:schemeClr val="tx1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4FAFE374-953E-0336-76DE-D143BB9C6451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6456363" y="2379657"/>
            <a:ext cx="2268537" cy="403913"/>
          </a:xfrm>
        </p:spPr>
        <p:txBody>
          <a:bodyPr/>
          <a:lstStyle/>
          <a:p>
            <a:endParaRPr lang="ru-RU">
              <a:solidFill>
                <a:srgbClr val="F92571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456363" y="3136604"/>
            <a:ext cx="2268537" cy="2797928"/>
          </a:xfrm>
        </p:spPr>
        <p:txBody>
          <a:bodyPr/>
          <a:lstStyle/>
          <a:p>
            <a:endParaRPr lang="ru-RU">
              <a:solidFill>
                <a:schemeClr val="tx1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68E32729-5FCC-21EA-16FD-CEF0C8FAABAA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>
            <a:off x="9407534" y="2339783"/>
            <a:ext cx="2263553" cy="423628"/>
          </a:xfrm>
        </p:spPr>
        <p:txBody>
          <a:bodyPr/>
          <a:lstStyle/>
          <a:p>
            <a:endParaRPr lang="ru-RU">
              <a:solidFill>
                <a:srgbClr val="F92571"/>
              </a:solidFill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6A6BF68-6470-CE0D-3E5F-0B15EDDCA14B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9407534" y="3128739"/>
            <a:ext cx="2263553" cy="2797928"/>
          </a:xfrm>
        </p:spPr>
        <p:txBody>
          <a:bodyPr/>
          <a:lstStyle/>
          <a:p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20913" y="1772416"/>
            <a:ext cx="771003" cy="423628"/>
          </a:xfrm>
        </p:spPr>
        <p:txBody>
          <a:bodyPr/>
          <a:lstStyle/>
          <a:p>
            <a:endParaRPr lang="ru-RU" b="1" dirty="0">
              <a:solidFill>
                <a:schemeClr val="accent5"/>
              </a:solidFill>
            </a:endParaRP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DE8FDF14-E7C8-6EE3-EBD8-B5DDE4F7F60B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3449944" y="1766200"/>
            <a:ext cx="771003" cy="403756"/>
          </a:xfrm>
        </p:spPr>
        <p:txBody>
          <a:bodyPr/>
          <a:lstStyle/>
          <a:p>
            <a:endParaRPr lang="ru-RU" b="1" dirty="0">
              <a:solidFill>
                <a:schemeClr val="accent5"/>
              </a:solidFill>
            </a:endParaRP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456363" y="1766043"/>
            <a:ext cx="771003" cy="403913"/>
          </a:xfrm>
        </p:spPr>
        <p:txBody>
          <a:bodyPr/>
          <a:lstStyle/>
          <a:p>
            <a:endParaRPr lang="ru-RU" b="1" dirty="0">
              <a:solidFill>
                <a:schemeClr val="accent5"/>
              </a:solidFill>
            </a:endParaRPr>
          </a:p>
        </p:txBody>
      </p:sp>
      <p:sp>
        <p:nvSpPr>
          <p:cNvPr id="18" name="Текст 17">
            <a:extLst>
              <a:ext uri="{FF2B5EF4-FFF2-40B4-BE49-F238E27FC236}">
                <a16:creationId xmlns:a16="http://schemas.microsoft.com/office/drawing/2014/main" id="{59F6129C-95BA-0836-7395-00F4830237D5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9407534" y="1772416"/>
            <a:ext cx="771003" cy="423628"/>
          </a:xfrm>
        </p:spPr>
        <p:txBody>
          <a:bodyPr/>
          <a:lstStyle/>
          <a:p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28" name="Caption"/>
          <p:cNvSpPr/>
          <p:nvPr/>
        </p:nvSpPr>
        <p:spPr>
          <a:xfrm>
            <a:off x="6583680" y="320040"/>
            <a:ext cx="530352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lang="ru-RU" sz="1800" dirty="0" b="1">
                <a:solidFill>
                  <a:srgbClr val="FFFFFF"/>
                </a:solidFill>
                <a:latin typeface="Montserrat"/>
              </a:rPr>
              <a:t>fsp-synth-2: пустая история</a:t>
            </a:r>
          </a:p>
        </p:txBody>
      </p:sp>
      <p:pic>
        <p:nvPicPr>
          <p:cNvPr id="29" name="fsp-synth-2: пустая история" descr="fsp-synth-2: пустая история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400" y="960120"/>
            <a:ext cx="5212080" cy="3619500"/>
          </a:xfrm>
          <a:prstGeom prst="rect">
            <a:avLst/>
          </a:prstGeom>
        </p:spPr>
      </p:pic>
      <p:sp>
        <p:nvSpPr>
          <p:cNvPr id="30" name="Caption"/>
          <p:cNvSpPr/>
          <p:nvPr/>
        </p:nvSpPr>
        <p:spPr>
          <a:xfrm>
            <a:off x="6583680" y="6355080"/>
            <a:ext cx="530352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lang="ru-RU" sz="1100" dirty="0">
                <a:solidFill>
                  <a:srgbClr val="FFFFFF"/>
                </a:solidFill>
                <a:latin typeface="Montserrat"/>
              </a:rPr>
              <a:t>Кабинет не рисует ошибку загрузки</a:t>
            </a:r>
          </a:p>
        </p:txBody>
      </p:sp>
    </p:spTree>
    <p:extLst>
      <p:ext uri="{BB962C8B-B14F-4D97-AF65-F5344CB8AC3E}">
        <p14:creationId xmlns:p14="http://schemas.microsoft.com/office/powerpoint/2010/main" val="173911422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62BB59-6E27-43D2-BF3A-1879F75EA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8587F3BD-E802-93BD-3D32-FDF202FEA64D}"/>
              </a:ext>
            </a:extLst>
          </p:cNvPr>
          <p:cNvSpPr/>
          <p:nvPr/>
        </p:nvSpPr>
        <p:spPr>
          <a:xfrm>
            <a:off x="4419477" y="1522006"/>
            <a:ext cx="3399397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Скругленный прямоугольник 8">
            <a:extLst>
              <a:ext uri="{FF2B5EF4-FFF2-40B4-BE49-F238E27FC236}">
                <a16:creationId xmlns:a16="http://schemas.microsoft.com/office/drawing/2014/main" id="{B6016C66-2F45-3093-7675-966377141ADD}"/>
              </a:ext>
            </a:extLst>
          </p:cNvPr>
          <p:cNvSpPr/>
          <p:nvPr/>
        </p:nvSpPr>
        <p:spPr>
          <a:xfrm>
            <a:off x="836595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A68CA47-326C-A498-C456-623193EF0FFA}"/>
              </a:ext>
            </a:extLst>
          </p:cNvPr>
          <p:cNvSpPr/>
          <p:nvPr/>
        </p:nvSpPr>
        <p:spPr>
          <a:xfrm>
            <a:off x="62388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E769D24B-D4D8-3322-BCAB-77138E0270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17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5DF4935E-10E9-5CA8-85EF-08A77383EBE6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780565" y="2493074"/>
            <a:ext cx="2965634" cy="423628"/>
          </a:xfrm>
        </p:spPr>
        <p:txBody>
          <a:bodyPr/>
          <a:lstStyle/>
          <a:p>
            <a:endParaRPr lang="ru-RU" sz="1800" dirty="0">
              <a:solidFill>
                <a:srgbClr val="F9257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63156EE-B99A-3E1C-1DFF-C779A3E1B5D8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780565" y="3128740"/>
            <a:ext cx="2965633" cy="2797928"/>
          </a:xfrm>
        </p:spPr>
        <p:txBody>
          <a:bodyPr/>
          <a:lstStyle/>
          <a:p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5C5649E-E208-17C2-F091-5482CC2FD51B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4623178" y="2493074"/>
            <a:ext cx="3034896" cy="403756"/>
          </a:xfrm>
        </p:spPr>
        <p:txBody>
          <a:bodyPr/>
          <a:lstStyle/>
          <a:p>
            <a:endParaRPr lang="ru-RU" sz="1800" dirty="0">
              <a:solidFill>
                <a:srgbClr val="F92571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B6AED36-1714-5896-5E97-ECA75EAA24C5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4623178" y="3128740"/>
            <a:ext cx="3034896" cy="2797928"/>
          </a:xfrm>
        </p:spPr>
        <p:txBody>
          <a:bodyPr/>
          <a:lstStyle/>
          <a:p>
            <a:endParaRPr lang="ru-RU">
              <a:solidFill>
                <a:schemeClr val="tx1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AB578740-7F02-5606-0701-43CBE42E6173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8547959" y="2493074"/>
            <a:ext cx="2945464" cy="403913"/>
          </a:xfrm>
        </p:spPr>
        <p:txBody>
          <a:bodyPr/>
          <a:lstStyle/>
          <a:p>
            <a:endParaRPr lang="ru-RU" sz="1800">
              <a:solidFill>
                <a:srgbClr val="F92571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3143A847-7B5C-EA94-880E-65D8582653EB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8547959" y="3128740"/>
            <a:ext cx="2945464" cy="2797928"/>
          </a:xfrm>
        </p:spPr>
        <p:txBody>
          <a:bodyPr/>
          <a:lstStyle/>
          <a:p>
            <a:endParaRPr lang="ru-RU">
              <a:solidFill>
                <a:schemeClr val="tx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3842A3B-9EE0-965C-0EFA-22F6D78D2F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6" y="335426"/>
            <a:ext cx="11331221" cy="376138"/>
          </a:xfrm>
        </p:spPr>
        <p:txBody>
          <a:bodyPr/>
          <a:lstStyle/>
          <a:p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DAEBED94-4F5F-339A-0CCE-082BCC33E925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780565" y="1772415"/>
            <a:ext cx="1311031" cy="601141"/>
          </a:xfrm>
        </p:spPr>
        <p:txBody>
          <a:bodyPr/>
          <a:lstStyle/>
          <a:p>
            <a:endParaRPr lang="ru-RU" sz="4400" b="1" dirty="0">
              <a:solidFill>
                <a:schemeClr val="accent5"/>
              </a:solidFill>
            </a:endParaRP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01B288C6-447F-2720-CB9D-6F216BD0C554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4615219" y="1766200"/>
            <a:ext cx="1311031" cy="572942"/>
          </a:xfrm>
        </p:spPr>
        <p:txBody>
          <a:bodyPr/>
          <a:lstStyle/>
          <a:p>
            <a:endParaRPr lang="ru-RU" sz="4400" b="1" dirty="0">
              <a:solidFill>
                <a:schemeClr val="accent5"/>
              </a:solidFill>
            </a:endParaRP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78DB70E8-1110-C23C-1E37-53138E3F8F02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8547959" y="1766043"/>
            <a:ext cx="1311031" cy="573165"/>
          </a:xfrm>
        </p:spPr>
        <p:txBody>
          <a:bodyPr/>
          <a:lstStyle/>
          <a:p>
            <a:endParaRPr lang="ru-RU" sz="4400" b="1" dirty="0">
              <a:solidFill>
                <a:schemeClr val="accent5"/>
              </a:solidFill>
            </a:endParaRPr>
          </a:p>
        </p:txBody>
      </p:sp>
      <p:sp>
        <p:nvSpPr>
          <p:cNvPr id="22" name="Caption"/>
          <p:cNvSpPr/>
          <p:nvPr/>
        </p:nvSpPr>
        <p:spPr>
          <a:xfrm>
            <a:off x="6583680" y="320040"/>
            <a:ext cx="530352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lang="ru-RU" sz="1800" dirty="0" b="1">
                <a:solidFill>
                  <a:srgbClr val="FFFFFF"/>
                </a:solidFill>
                <a:latin typeface="Montserrat"/>
              </a:rPr>
              <a:t>Подборка работодателя backend:middle</a:t>
            </a:r>
          </a:p>
        </p:txBody>
      </p:sp>
      <p:pic>
        <p:nvPicPr>
          <p:cNvPr id="23" name="Подборка работодателя backend:middle" descr="Подборка работодателя backend:middl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400" y="960120"/>
            <a:ext cx="5212080" cy="4343400"/>
          </a:xfrm>
          <a:prstGeom prst="rect">
            <a:avLst/>
          </a:prstGeom>
        </p:spPr>
      </p:pic>
      <p:sp>
        <p:nvSpPr>
          <p:cNvPr id="24" name="Caption"/>
          <p:cNvSpPr/>
          <p:nvPr/>
        </p:nvSpPr>
        <p:spPr>
          <a:xfrm>
            <a:off x="6583680" y="6355080"/>
            <a:ext cx="530352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lang="ru-RU" sz="1100" dirty="0">
                <a:solidFill>
                  <a:srgbClr val="FFFFFF"/>
                </a:solidFill>
                <a:latin typeface="Montserrat"/>
              </a:rPr>
              <a:t>Выше балл, затем больше достижений ФСП</a:t>
            </a:r>
          </a:p>
        </p:txBody>
      </p:sp>
    </p:spTree>
    <p:extLst>
      <p:ext uri="{BB962C8B-B14F-4D97-AF65-F5344CB8AC3E}">
        <p14:creationId xmlns:p14="http://schemas.microsoft.com/office/powerpoint/2010/main" val="311221642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7922FF53-ACE2-23D9-1F2E-C3CB2E860DAF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669682A0-CA38-40A8-94F2-47358000C1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18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27E23EC9-2FC6-4D30-AF38-406CDD6EAFE1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1615961" y="1428777"/>
            <a:ext cx="3866856" cy="423628"/>
          </a:xfrm>
        </p:spPr>
        <p:txBody>
          <a:bodyPr/>
          <a:lstStyle/>
          <a:p>
            <a:endParaRPr lang="ru-RU" dirty="0">
              <a:solidFill>
                <a:srgbClr val="F9257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2711F3D1-6A7C-417C-88B0-D92130FE9557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1615964" y="1996388"/>
            <a:ext cx="3866856" cy="672075"/>
          </a:xfrm>
        </p:spPr>
        <p:txBody>
          <a:bodyPr/>
          <a:lstStyle/>
          <a:p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56CFDA1A-32AF-41E1-A34D-F85A5B0EDD07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1596605" y="3032761"/>
            <a:ext cx="3866856" cy="403756"/>
          </a:xfrm>
        </p:spPr>
        <p:txBody>
          <a:bodyPr/>
          <a:lstStyle/>
          <a:p>
            <a:endParaRPr lang="ru-RU">
              <a:solidFill>
                <a:srgbClr val="F92571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CCF47ED-F081-41D2-846B-E1D156AA0314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1596605" y="3580500"/>
            <a:ext cx="3866856" cy="672075"/>
          </a:xfrm>
        </p:spPr>
        <p:txBody>
          <a:bodyPr/>
          <a:lstStyle/>
          <a:p>
            <a:endParaRPr lang="ru-RU">
              <a:solidFill>
                <a:schemeClr val="tx1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19BEAF1A-2D42-4D98-AD35-7280D52BED88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1596605" y="4616873"/>
            <a:ext cx="3866856" cy="403913"/>
          </a:xfrm>
        </p:spPr>
        <p:txBody>
          <a:bodyPr/>
          <a:lstStyle/>
          <a:p>
            <a:endParaRPr lang="ru-RU">
              <a:solidFill>
                <a:srgbClr val="F92571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50E54373-F1CE-490F-A9AC-455CC1CA7076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1596605" y="5164612"/>
            <a:ext cx="3866856" cy="672075"/>
          </a:xfrm>
        </p:spPr>
        <p:txBody>
          <a:bodyPr/>
          <a:lstStyle/>
          <a:p>
            <a:endParaRPr lang="ru-RU">
              <a:solidFill>
                <a:schemeClr val="tx1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D072020D-E8F8-4E9E-BBDB-08E0FF7D7841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>
            <a:off x="7289068" y="1428777"/>
            <a:ext cx="3866856" cy="423628"/>
          </a:xfrm>
        </p:spPr>
        <p:txBody>
          <a:bodyPr/>
          <a:lstStyle/>
          <a:p>
            <a:endParaRPr lang="ru-RU">
              <a:solidFill>
                <a:srgbClr val="F92571"/>
              </a:solidFill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F21454E5-F292-4891-9D68-0D5174698360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7289071" y="1996388"/>
            <a:ext cx="3866856" cy="672075"/>
          </a:xfrm>
        </p:spPr>
        <p:txBody>
          <a:bodyPr/>
          <a:lstStyle/>
          <a:p>
            <a:endParaRPr lang="ru-RU">
              <a:solidFill>
                <a:schemeClr val="tx1"/>
              </a:solidFill>
            </a:endParaRP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ED966D9B-CCFE-4200-A5EC-3EB869FCB8CC}"/>
              </a:ext>
            </a:extLst>
          </p:cNvPr>
          <p:cNvSpPr>
            <a:spLocks noGrp="1"/>
          </p:cNvSpPr>
          <p:nvPr>
            <p:ph type="body" sz="quarter" idx="45"/>
          </p:nvPr>
        </p:nvSpPr>
        <p:spPr>
          <a:xfrm>
            <a:off x="7269712" y="3032761"/>
            <a:ext cx="3866856" cy="403756"/>
          </a:xfrm>
        </p:spPr>
        <p:txBody>
          <a:bodyPr/>
          <a:lstStyle/>
          <a:p>
            <a:endParaRPr lang="ru-RU">
              <a:solidFill>
                <a:srgbClr val="F92571"/>
              </a:solidFill>
            </a:endParaRP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C1D06240-647F-427A-8B8C-091F9721E642}"/>
              </a:ext>
            </a:extLst>
          </p:cNvPr>
          <p:cNvSpPr>
            <a:spLocks noGrp="1"/>
          </p:cNvSpPr>
          <p:nvPr>
            <p:ph type="body" sz="quarter" idx="46"/>
          </p:nvPr>
        </p:nvSpPr>
        <p:spPr>
          <a:xfrm>
            <a:off x="7269712" y="3580500"/>
            <a:ext cx="3866856" cy="672075"/>
          </a:xfrm>
        </p:spPr>
        <p:txBody>
          <a:bodyPr/>
          <a:lstStyle/>
          <a:p>
            <a:endParaRPr lang="ru-RU">
              <a:solidFill>
                <a:schemeClr val="tx1"/>
              </a:solidFill>
            </a:endParaRPr>
          </a:p>
        </p:txBody>
      </p:sp>
      <p:sp>
        <p:nvSpPr>
          <p:cNvPr id="12" name="Текст 11">
            <a:extLst>
              <a:ext uri="{FF2B5EF4-FFF2-40B4-BE49-F238E27FC236}">
                <a16:creationId xmlns:a16="http://schemas.microsoft.com/office/drawing/2014/main" id="{0A4B9D71-43CE-4C1C-BF7F-B60A8B578216}"/>
              </a:ext>
            </a:extLst>
          </p:cNvPr>
          <p:cNvSpPr>
            <a:spLocks noGrp="1"/>
          </p:cNvSpPr>
          <p:nvPr>
            <p:ph type="body" sz="quarter" idx="47"/>
          </p:nvPr>
        </p:nvSpPr>
        <p:spPr>
          <a:xfrm>
            <a:off x="7269712" y="4616873"/>
            <a:ext cx="3866856" cy="403913"/>
          </a:xfrm>
        </p:spPr>
        <p:txBody>
          <a:bodyPr/>
          <a:lstStyle/>
          <a:p>
            <a:endParaRPr lang="ru-RU">
              <a:solidFill>
                <a:srgbClr val="F92571"/>
              </a:solidFill>
            </a:endParaRPr>
          </a:p>
        </p:txBody>
      </p:sp>
      <p:sp>
        <p:nvSpPr>
          <p:cNvPr id="13" name="Текст 12">
            <a:extLst>
              <a:ext uri="{FF2B5EF4-FFF2-40B4-BE49-F238E27FC236}">
                <a16:creationId xmlns:a16="http://schemas.microsoft.com/office/drawing/2014/main" id="{FB764737-E500-486A-BC57-2CFC01C3D8BB}"/>
              </a:ext>
            </a:extLst>
          </p:cNvPr>
          <p:cNvSpPr>
            <a:spLocks noGrp="1"/>
          </p:cNvSpPr>
          <p:nvPr>
            <p:ph type="body" sz="quarter" idx="48"/>
          </p:nvPr>
        </p:nvSpPr>
        <p:spPr>
          <a:xfrm>
            <a:off x="7269712" y="5164612"/>
            <a:ext cx="3866856" cy="672075"/>
          </a:xfrm>
        </p:spPr>
        <p:txBody>
          <a:bodyPr/>
          <a:lstStyle/>
          <a:p>
            <a:endParaRPr lang="ru-RU">
              <a:solidFill>
                <a:schemeClr val="tx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02C18390-040F-49C6-B99F-AFF6DA22BD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83D68FBC-5A9C-4BE2-A173-8FBC9296615A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20913" y="1394052"/>
            <a:ext cx="771003" cy="423628"/>
          </a:xfrm>
        </p:spPr>
        <p:txBody>
          <a:bodyPr/>
          <a:lstStyle/>
          <a:p>
            <a:endParaRPr lang="ru-RU" b="1" dirty="0">
              <a:solidFill>
                <a:schemeClr val="accent5"/>
              </a:solidFill>
            </a:endParaRP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F7796DA3-237A-4B69-B5A0-A321BB471A9B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501557" y="2998036"/>
            <a:ext cx="771003" cy="403756"/>
          </a:xfrm>
        </p:spPr>
        <p:txBody>
          <a:bodyPr/>
          <a:lstStyle/>
          <a:p>
            <a:endParaRPr lang="ru-RU" b="1" dirty="0">
              <a:solidFill>
                <a:schemeClr val="accent5"/>
              </a:solidFill>
            </a:endParaRP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01D31CD5-C50F-4F9F-AFD3-E6609DC7BFA0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501557" y="4582148"/>
            <a:ext cx="771003" cy="403913"/>
          </a:xfrm>
        </p:spPr>
        <p:txBody>
          <a:bodyPr/>
          <a:lstStyle/>
          <a:p>
            <a:endParaRPr lang="ru-RU" b="1" dirty="0">
              <a:solidFill>
                <a:schemeClr val="accent5"/>
              </a:solidFill>
            </a:endParaRPr>
          </a:p>
        </p:txBody>
      </p:sp>
      <p:sp>
        <p:nvSpPr>
          <p:cNvPr id="18" name="Текст 17">
            <a:extLst>
              <a:ext uri="{FF2B5EF4-FFF2-40B4-BE49-F238E27FC236}">
                <a16:creationId xmlns:a16="http://schemas.microsoft.com/office/drawing/2014/main" id="{D87BAA27-328A-476A-8933-B54F5113B8B6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6194020" y="1394052"/>
            <a:ext cx="771003" cy="423628"/>
          </a:xfrm>
        </p:spPr>
        <p:txBody>
          <a:bodyPr/>
          <a:lstStyle/>
          <a:p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19" name="Текст 18">
            <a:extLst>
              <a:ext uri="{FF2B5EF4-FFF2-40B4-BE49-F238E27FC236}">
                <a16:creationId xmlns:a16="http://schemas.microsoft.com/office/drawing/2014/main" id="{7AFF5BE7-0C00-42D9-8BA8-D1F40F4F4492}"/>
              </a:ext>
            </a:extLst>
          </p:cNvPr>
          <p:cNvSpPr>
            <a:spLocks noGrp="1"/>
          </p:cNvSpPr>
          <p:nvPr>
            <p:ph type="body" sz="quarter" idx="53"/>
          </p:nvPr>
        </p:nvSpPr>
        <p:spPr>
          <a:xfrm>
            <a:off x="6174664" y="2998036"/>
            <a:ext cx="771003" cy="403756"/>
          </a:xfrm>
        </p:spPr>
        <p:txBody>
          <a:bodyPr/>
          <a:lstStyle/>
          <a:p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20" name="Текст 19">
            <a:extLst>
              <a:ext uri="{FF2B5EF4-FFF2-40B4-BE49-F238E27FC236}">
                <a16:creationId xmlns:a16="http://schemas.microsoft.com/office/drawing/2014/main" id="{82867CCA-8241-4FD6-A117-F3A419838853}"/>
              </a:ext>
            </a:extLst>
          </p:cNvPr>
          <p:cNvSpPr>
            <a:spLocks noGrp="1"/>
          </p:cNvSpPr>
          <p:nvPr>
            <p:ph type="body" sz="quarter" idx="54"/>
          </p:nvPr>
        </p:nvSpPr>
        <p:spPr>
          <a:xfrm>
            <a:off x="6174664" y="4582148"/>
            <a:ext cx="771003" cy="403913"/>
          </a:xfrm>
        </p:spPr>
        <p:txBody>
          <a:bodyPr/>
          <a:lstStyle/>
          <a:p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24" name="Caption"/>
          <p:cNvSpPr/>
          <p:nvPr/>
        </p:nvSpPr>
        <p:spPr>
          <a:xfrm>
            <a:off x="6583680" y="320040"/>
            <a:ext cx="530352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lang="ru-RU" sz="1800" dirty="0" b="1">
                <a:solidFill>
                  <a:srgbClr val="FFFFFF"/>
                </a:solidFill>
                <a:latin typeface="Montserrat"/>
              </a:rPr>
              <a:t>Приглашение: вилка RUB, контакт сразу</a:t>
            </a:r>
          </a:p>
        </p:txBody>
      </p:sp>
      <p:pic>
        <p:nvPicPr>
          <p:cNvPr id="25" name="Приглашение: вилка RUB, контакт сразу" descr="Приглашение: вилка RUB, контакт сразу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400" y="960120"/>
            <a:ext cx="5212080" cy="3481958"/>
          </a:xfrm>
          <a:prstGeom prst="rect">
            <a:avLst/>
          </a:prstGeom>
        </p:spPr>
      </p:pic>
      <p:sp>
        <p:nvSpPr>
          <p:cNvPr id="26" name="Caption"/>
          <p:cNvSpPr/>
          <p:nvPr/>
        </p:nvSpPr>
        <p:spPr>
          <a:xfrm>
            <a:off x="6583680" y="6355080"/>
            <a:ext cx="530352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lang="ru-RU" sz="1100" dirty="0">
                <a:solidFill>
                  <a:srgbClr val="FFFFFF"/>
                </a:solidFill>
                <a:latin typeface="Montserrat"/>
              </a:rPr>
              <a:t>Статус sent, почты соискателя нет</a:t>
            </a:r>
          </a:p>
        </p:txBody>
      </p:sp>
    </p:spTree>
    <p:extLst>
      <p:ext uri="{BB962C8B-B14F-4D97-AF65-F5344CB8AC3E}">
        <p14:creationId xmlns:p14="http://schemas.microsoft.com/office/powerpoint/2010/main" val="175098422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FF9BE287-CC84-BD90-E298-4EEA93BE9A7E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B2EAAB83-DF67-4A10-A863-77C29411763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19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3D2D50A4-F98A-4A5D-A666-B99022C8614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prstGeom prst="roundRect">
            <a:avLst>
              <a:gd name="adj" fmla="val 6127"/>
            </a:avLst>
          </a:prstGeom>
        </p:spPr>
      </p:sp>
      <p:sp>
        <p:nvSpPr>
          <p:cNvPr id="4" name="Рисунок 3">
            <a:extLst>
              <a:ext uri="{FF2B5EF4-FFF2-40B4-BE49-F238E27FC236}">
                <a16:creationId xmlns:a16="http://schemas.microsoft.com/office/drawing/2014/main" id="{5D0B644D-D790-48C2-BC35-EDB0C7DDBBE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prstGeom prst="roundRect">
            <a:avLst>
              <a:gd name="adj" fmla="val 11783"/>
            </a:avLst>
          </a:prstGeom>
        </p:spPr>
      </p:sp>
      <p:sp>
        <p:nvSpPr>
          <p:cNvPr id="5" name="Рисунок 4">
            <a:extLst>
              <a:ext uri="{FF2B5EF4-FFF2-40B4-BE49-F238E27FC236}">
                <a16:creationId xmlns:a16="http://schemas.microsoft.com/office/drawing/2014/main" id="{EAAC3104-3761-4B60-BF27-9DB79C34457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prstGeom prst="roundRect">
            <a:avLst>
              <a:gd name="adj" fmla="val 7254"/>
            </a:avLst>
          </a:prstGeom>
        </p:spPr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3849BF57-EB33-4692-98F6-8A1B9293CD1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prstGeom prst="roundRect">
            <a:avLst>
              <a:gd name="adj" fmla="val 10128"/>
            </a:avLst>
          </a:prstGeom>
          <a:solidFill>
            <a:schemeClr val="bg1"/>
          </a:solidFill>
          <a:ln>
            <a:solidFill>
              <a:schemeClr val="accent5"/>
            </a:solidFill>
          </a:ln>
        </p:spPr>
        <p:txBody>
          <a:bodyPr/>
          <a:lstStyle/>
          <a:p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0" name="Заголовок 13">
            <a:extLst>
              <a:ext uri="{FF2B5EF4-FFF2-40B4-BE49-F238E27FC236}">
                <a16:creationId xmlns:a16="http://schemas.microsoft.com/office/drawing/2014/main" id="{641DFED5-BDC7-0680-A1A0-F6CEB622BB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2775523" cy="37613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11" name="Caption"/>
          <p:cNvSpPr/>
          <p:nvPr/>
        </p:nvSpPr>
        <p:spPr>
          <a:xfrm>
            <a:off x="6583680" y="320040"/>
            <a:ext cx="530352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lang="ru-RU" sz="1800" dirty="0" b="1">
                <a:solidFill>
                  <a:srgbClr val="FFFFFF"/>
                </a:solidFill>
                <a:latin typeface="Montserrat"/>
              </a:rPr>
              <a:t>Открытие: sent → seen</a:t>
            </a:r>
          </a:p>
        </p:txBody>
      </p:sp>
      <p:pic>
        <p:nvPicPr>
          <p:cNvPr id="12" name="Открытие: sent → seen" descr="Открытие: sent → see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400" y="960120"/>
            <a:ext cx="5212080" cy="3257550"/>
          </a:xfrm>
          <a:prstGeom prst="rect">
            <a:avLst/>
          </a:prstGeom>
        </p:spPr>
      </p:pic>
      <p:sp>
        <p:nvSpPr>
          <p:cNvPr id="13" name="Caption"/>
          <p:cNvSpPr/>
          <p:nvPr/>
        </p:nvSpPr>
        <p:spPr>
          <a:xfrm>
            <a:off x="6583680" y="6355080"/>
            <a:ext cx="530352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lang="ru-RU" sz="1100" dirty="0">
                <a:solidFill>
                  <a:srgbClr val="FFFFFF"/>
                </a:solidFill>
                <a:latin typeface="Montserrat"/>
              </a:rPr>
              <a:t>Способ связи компании виден сразу</a:t>
            </a:r>
          </a:p>
        </p:txBody>
      </p:sp>
    </p:spTree>
    <p:extLst>
      <p:ext uri="{BB962C8B-B14F-4D97-AF65-F5344CB8AC3E}">
        <p14:creationId xmlns:p14="http://schemas.microsoft.com/office/powerpoint/2010/main" val="238426814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E0C4469B-8AAE-7B13-015A-FD424E4F9A97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294820D9-0FE7-A2CD-6EC6-B191A0CD90DC}"/>
              </a:ext>
            </a:extLst>
          </p:cNvPr>
          <p:cNvSpPr/>
          <p:nvPr/>
        </p:nvSpPr>
        <p:spPr>
          <a:xfrm>
            <a:off x="5951744" y="1366423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7AE51F4F-C2FB-09FC-6139-35E790E33BDF}"/>
              </a:ext>
            </a:extLst>
          </p:cNvPr>
          <p:cNvSpPr/>
          <p:nvPr/>
        </p:nvSpPr>
        <p:spPr>
          <a:xfrm>
            <a:off x="5951744" y="2377094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34B52819-C376-FDAF-2B5B-09C492119CCF}"/>
              </a:ext>
            </a:extLst>
          </p:cNvPr>
          <p:cNvSpPr/>
          <p:nvPr/>
        </p:nvSpPr>
        <p:spPr>
          <a:xfrm>
            <a:off x="5951744" y="3387765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6CDADF58-3FDE-0896-F558-2E50261FFD44}"/>
              </a:ext>
            </a:extLst>
          </p:cNvPr>
          <p:cNvSpPr/>
          <p:nvPr/>
        </p:nvSpPr>
        <p:spPr>
          <a:xfrm>
            <a:off x="5951744" y="4398436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CD942BE0-7170-CE73-83AB-4505964EB89D}"/>
              </a:ext>
            </a:extLst>
          </p:cNvPr>
          <p:cNvSpPr/>
          <p:nvPr/>
        </p:nvSpPr>
        <p:spPr>
          <a:xfrm>
            <a:off x="5951744" y="5409107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5" name="Скругленный прямоугольник 14">
            <a:extLst>
              <a:ext uri="{FF2B5EF4-FFF2-40B4-BE49-F238E27FC236}">
                <a16:creationId xmlns:a16="http://schemas.microsoft.com/office/drawing/2014/main" id="{BF0860DA-9B9B-19E2-49DF-A8EDAA7C2B5F}"/>
              </a:ext>
            </a:extLst>
          </p:cNvPr>
          <p:cNvSpPr/>
          <p:nvPr/>
        </p:nvSpPr>
        <p:spPr>
          <a:xfrm>
            <a:off x="346076" y="1366423"/>
            <a:ext cx="5389562" cy="4834352"/>
          </a:xfrm>
          <a:prstGeom prst="roundRect">
            <a:avLst>
              <a:gd name="adj" fmla="val 291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C3F7DC2-0D9C-407C-98AC-5F3AD231C5C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23887" y="1732103"/>
            <a:ext cx="4734175" cy="4139307"/>
          </a:xfrm>
          <a:noFill/>
          <a:ln>
            <a:noFill/>
          </a:ln>
        </p:spPr>
        <p:txBody>
          <a:bodyPr>
            <a:normAutofit/>
          </a:bodyPr>
          <a:lstStyle/>
          <a:p>
            <a:pPr algn="l"/>
            <a:endParaRPr lang="ru-RU" sz="3600" b="1">
              <a:solidFill>
                <a:schemeClr val="tx1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8A2E8600-6DC7-42A4-BAB0-32ECA492CE0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172730" y="1445505"/>
            <a:ext cx="5460470" cy="600112"/>
          </a:xfrm>
          <a:noFill/>
          <a:ln>
            <a:noFill/>
          </a:ln>
        </p:spPr>
        <p:txBody>
          <a:bodyPr/>
          <a:lstStyle/>
          <a:p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F517FCEF-DEC9-4794-B46E-21961558A7C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172730" y="2472872"/>
            <a:ext cx="5460470" cy="600112"/>
          </a:xfrm>
          <a:noFill/>
          <a:ln>
            <a:noFill/>
          </a:ln>
        </p:spPr>
        <p:txBody>
          <a:bodyPr/>
          <a:lstStyle/>
          <a:p>
            <a:endParaRPr lang="ru-RU">
              <a:solidFill>
                <a:schemeClr val="tx1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236B8339-2490-447D-B543-1CC15487D82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172730" y="3485922"/>
            <a:ext cx="5460470" cy="600112"/>
          </a:xfrm>
          <a:noFill/>
          <a:ln>
            <a:noFill/>
          </a:ln>
        </p:spPr>
        <p:txBody>
          <a:bodyPr/>
          <a:lstStyle/>
          <a:p>
            <a:endParaRPr lang="ru-RU">
              <a:solidFill>
                <a:schemeClr val="tx1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240FC05B-8F07-40FA-BE0D-2235F9DDDAB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172730" y="4496593"/>
            <a:ext cx="5460470" cy="600112"/>
          </a:xfrm>
          <a:noFill/>
          <a:ln>
            <a:noFill/>
          </a:ln>
        </p:spPr>
        <p:txBody>
          <a:bodyPr/>
          <a:lstStyle/>
          <a:p>
            <a:endParaRPr lang="ru-RU">
              <a:solidFill>
                <a:schemeClr val="tx1"/>
              </a:solidFill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D049C016-4655-4C58-B392-FD255E0A768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172730" y="5516924"/>
            <a:ext cx="5460470" cy="600112"/>
          </a:xfrm>
          <a:noFill/>
          <a:ln>
            <a:noFill/>
          </a:ln>
        </p:spPr>
        <p:txBody>
          <a:bodyPr/>
          <a:lstStyle/>
          <a:p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0" name="Номер слайда 9">
            <a:extLst>
              <a:ext uri="{FF2B5EF4-FFF2-40B4-BE49-F238E27FC236}">
                <a16:creationId xmlns:a16="http://schemas.microsoft.com/office/drawing/2014/main" id="{366E9534-A66A-4DF6-B8DA-1E6D8E4438F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633200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20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B16985B0-3ABD-CE1B-A2A5-B042F5A019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25" name="Caption"/>
          <p:cNvSpPr/>
          <p:nvPr/>
        </p:nvSpPr>
        <p:spPr>
          <a:xfrm>
            <a:off x="6583680" y="320040"/>
            <a:ext cx="530352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lang="ru-RU" sz="1800" dirty="0" b="1">
                <a:solidFill>
                  <a:srgbClr val="FFFFFF"/>
                </a:solidFill>
                <a:latin typeface="Montserrat"/>
              </a:rPr>
              <a:t>После accepted появляется почта</a:t>
            </a:r>
          </a:p>
        </p:txBody>
      </p:sp>
      <p:pic>
        <p:nvPicPr>
          <p:cNvPr id="26" name="После accepted появляется почта" descr="После accepted появляется почта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400" y="960120"/>
            <a:ext cx="5212080" cy="3615880"/>
          </a:xfrm>
          <a:prstGeom prst="rect">
            <a:avLst/>
          </a:prstGeom>
        </p:spPr>
      </p:pic>
      <p:sp>
        <p:nvSpPr>
          <p:cNvPr id="27" name="Caption"/>
          <p:cNvSpPr/>
          <p:nvPr/>
        </p:nvSpPr>
        <p:spPr>
          <a:xfrm>
            <a:off x="6583680" y="6355080"/>
            <a:ext cx="530352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lang="ru-RU" sz="1100" dirty="0">
                <a:solidFill>
                  <a:srgbClr val="FFFFFF"/>
                </a:solidFill>
                <a:latin typeface="Montserrat"/>
              </a:rPr>
              <a:t>Почта соискателя только в этом статусе</a:t>
            </a:r>
          </a:p>
        </p:txBody>
      </p:sp>
    </p:spTree>
    <p:extLst>
      <p:ext uri="{BB962C8B-B14F-4D97-AF65-F5344CB8AC3E}">
        <p14:creationId xmlns:p14="http://schemas.microsoft.com/office/powerpoint/2010/main" val="106989518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Скругленный прямоугольник 13">
            <a:extLst>
              <a:ext uri="{FF2B5EF4-FFF2-40B4-BE49-F238E27FC236}">
                <a16:creationId xmlns:a16="http://schemas.microsoft.com/office/drawing/2014/main" id="{5DECC81F-B9A0-B672-D696-81D562A2CC6C}"/>
              </a:ext>
            </a:extLst>
          </p:cNvPr>
          <p:cNvSpPr/>
          <p:nvPr/>
        </p:nvSpPr>
        <p:spPr>
          <a:xfrm>
            <a:off x="6286500" y="4747188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17326B78-1050-D91F-CB0B-77E7C3BDEBD1}"/>
              </a:ext>
            </a:extLst>
          </p:cNvPr>
          <p:cNvSpPr/>
          <p:nvPr/>
        </p:nvSpPr>
        <p:spPr>
          <a:xfrm>
            <a:off x="6286500" y="2832356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61423B79-9F6C-052D-974E-E9A0E0B7ABDB}"/>
              </a:ext>
            </a:extLst>
          </p:cNvPr>
          <p:cNvSpPr/>
          <p:nvPr/>
        </p:nvSpPr>
        <p:spPr>
          <a:xfrm>
            <a:off x="6286500" y="917525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51D59BC6-8004-F870-CECE-1C4FFB06B7FB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005B0424-AA26-4EA9-832B-906AB779F2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21</a:t>
            </a:fld>
            <a:endParaRPr lang="ru-RU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6DE8A120-196C-48DC-AA16-CD22F43B9119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591637" y="1049727"/>
            <a:ext cx="4790314" cy="597810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endParaRPr lang="ru-RU" b="0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BF5D0CB6-043A-4E83-8D3D-7E7E9E2705E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591637" y="1649793"/>
            <a:ext cx="4790314" cy="779602"/>
          </a:xfrm>
        </p:spPr>
        <p:txBody>
          <a:bodyPr/>
          <a:lstStyle/>
          <a:p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2456D5B0-F375-49C6-A314-52E6BED10C43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591637" y="2915797"/>
            <a:ext cx="4790314" cy="563519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endParaRPr lang="ru-RU" b="0" dirty="0">
              <a:solidFill>
                <a:schemeClr val="tx1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3191D1F3-2ADD-4DEE-A9D0-1FBBB993931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591637" y="3515862"/>
            <a:ext cx="4790314" cy="869021"/>
          </a:xfrm>
        </p:spPr>
        <p:txBody>
          <a:bodyPr/>
          <a:lstStyle/>
          <a:p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37602292-3E6F-4E28-8A49-D2719D16F852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591637" y="4871732"/>
            <a:ext cx="4790314" cy="597810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endParaRPr lang="ru-RU" b="0" dirty="0">
              <a:solidFill>
                <a:schemeClr val="tx1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AE625499-96AD-46EA-8CE7-5765B615D23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591637" y="5471798"/>
            <a:ext cx="4790314" cy="848014"/>
          </a:xfrm>
        </p:spPr>
        <p:txBody>
          <a:bodyPr/>
          <a:lstStyle/>
          <a:p>
            <a:endParaRPr lang="ru-RU" dirty="0">
              <a:solidFill>
                <a:schemeClr val="tx1"/>
              </a:solidFill>
            </a:endParaRPr>
          </a:p>
        </p:txBody>
      </p:sp>
      <p:graphicFrame>
        <p:nvGraphicFramePr>
          <p:cNvPr id="10" name="Диаграмма 9">
            <a:extLst>
              <a:ext uri="{FF2B5EF4-FFF2-40B4-BE49-F238E27FC236}">
                <a16:creationId xmlns:a16="http://schemas.microsoft.com/office/drawing/2014/main" id="{E658358F-6A3F-4E56-8E2C-0059A594AB6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45485138"/>
              </p:ext>
            </p:extLst>
          </p:nvPr>
        </p:nvGraphicFramePr>
        <p:xfrm>
          <a:off x="346075" y="1424510"/>
          <a:ext cx="5749925" cy="44017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3" name="Заголовок 13">
            <a:extLst>
              <a:ext uri="{FF2B5EF4-FFF2-40B4-BE49-F238E27FC236}">
                <a16:creationId xmlns:a16="http://schemas.microsoft.com/office/drawing/2014/main" id="{CE48B21B-C4B8-5F03-1C12-E4E9E20357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2763648" cy="37613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15" name="Caption"/>
          <p:cNvSpPr/>
          <p:nvPr/>
        </p:nvSpPr>
        <p:spPr>
          <a:xfrm>
            <a:off x="6583680" y="320040"/>
            <a:ext cx="530352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lang="ru-RU" sz="1800" dirty="0" b="1">
                <a:solidFill>
                  <a:srgbClr val="FFFFFF"/>
                </a:solidFill>
                <a:latin typeface="Montserrat"/>
              </a:rPr>
              <a:t>Прогон валидации</a:t>
            </a:r>
          </a:p>
        </p:txBody>
      </p:sp>
      <p:pic>
        <p:nvPicPr>
          <p:cNvPr id="16" name="Метрики прогона" descr="Метрики прогона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9400" y="960120"/>
            <a:ext cx="5212080" cy="29317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323139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389C504C-C673-685A-ED35-3E688A842675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2D779828-50AA-424E-9D75-E4AA39DF20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22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C80582B6-28AC-45F4-BD2D-467E652DBD37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755267" y="1343263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endParaRPr lang="ru-RU" b="0" dirty="0">
              <a:solidFill>
                <a:schemeClr val="accent5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AF82DF7C-A3AD-43CF-A10D-0B36529054B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755267" y="1722800"/>
            <a:ext cx="4790314" cy="642164"/>
          </a:xfrm>
        </p:spPr>
        <p:txBody>
          <a:bodyPr/>
          <a:lstStyle/>
          <a:p>
            <a:endParaRPr lang="ru-RU">
              <a:solidFill>
                <a:schemeClr val="accent5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7958F12B-018B-418A-A49D-1D36B842AE9F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755267" y="2611824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endParaRPr lang="ru-RU" b="0" dirty="0">
              <a:solidFill>
                <a:schemeClr val="accent5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57CEBFD9-BA50-4FE2-AEDF-186C2F4D3DA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755267" y="2991361"/>
            <a:ext cx="4790314" cy="642164"/>
          </a:xfrm>
        </p:spPr>
        <p:txBody>
          <a:bodyPr/>
          <a:lstStyle/>
          <a:p>
            <a:endParaRPr lang="ru-RU">
              <a:solidFill>
                <a:schemeClr val="accent5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932AF062-A059-495E-BB70-46D2DA99A1FB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755267" y="3880385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endParaRPr lang="ru-RU" b="0" dirty="0">
              <a:solidFill>
                <a:schemeClr val="accent5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62FC86C2-74E3-4069-A985-340E87E70FC1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755267" y="4259922"/>
            <a:ext cx="4790314" cy="642164"/>
          </a:xfrm>
        </p:spPr>
        <p:txBody>
          <a:bodyPr/>
          <a:lstStyle/>
          <a:p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1D835328-9C3F-4BAA-A363-BCF05AE9CAA1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755267" y="5148947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endParaRPr lang="ru-RU" b="0" dirty="0">
              <a:solidFill>
                <a:schemeClr val="accent5"/>
              </a:solidFill>
            </a:endParaRP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EF3516B2-5C9F-4B2E-B489-4C7C76EB80F4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755267" y="5528484"/>
            <a:ext cx="4790314" cy="642164"/>
          </a:xfrm>
        </p:spPr>
        <p:txBody>
          <a:bodyPr/>
          <a:lstStyle/>
          <a:p>
            <a:endParaRPr lang="ru-RU">
              <a:solidFill>
                <a:schemeClr val="accent5"/>
              </a:solidFill>
            </a:endParaRPr>
          </a:p>
        </p:txBody>
      </p:sp>
      <p:graphicFrame>
        <p:nvGraphicFramePr>
          <p:cNvPr id="12" name="Диаграмма 11">
            <a:extLst>
              <a:ext uri="{FF2B5EF4-FFF2-40B4-BE49-F238E27FC236}">
                <a16:creationId xmlns:a16="http://schemas.microsoft.com/office/drawing/2014/main" id="{23BDA4A7-21AE-4EEC-8367-DB38D1BA312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81416834"/>
              </p:ext>
            </p:extLst>
          </p:nvPr>
        </p:nvGraphicFramePr>
        <p:xfrm>
          <a:off x="346075" y="1424510"/>
          <a:ext cx="5749925" cy="44017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5" name="Заголовок 13">
            <a:extLst>
              <a:ext uri="{FF2B5EF4-FFF2-40B4-BE49-F238E27FC236}">
                <a16:creationId xmlns:a16="http://schemas.microsoft.com/office/drawing/2014/main" id="{9CDF69C9-489B-D478-1908-E63FA3502B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16" name="Caption"/>
          <p:cNvSpPr/>
          <p:nvPr/>
        </p:nvSpPr>
        <p:spPr>
          <a:xfrm>
            <a:off x="6583680" y="320040"/>
            <a:ext cx="5303520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lang="ru-RU" sz="1800" dirty="0" b="1">
                <a:solidFill>
                  <a:srgbClr val="FFFFFF"/>
                </a:solidFill>
                <a:latin typeface="Montserrat"/>
              </a:rPr>
              <a:t>Стенд одной командой</a:t>
            </a:r>
          </a:p>
        </p:txBody>
      </p:sp>
      <p:sp>
        <p:nvSpPr>
          <p:cNvPr id="17" name="Caption"/>
          <p:cNvSpPr/>
          <p:nvPr/>
        </p:nvSpPr>
        <p:spPr>
          <a:xfrm>
            <a:off x="6583680" y="1097280"/>
            <a:ext cx="5303520" cy="51206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lang="ru-RU" sz="1400" dirty="0">
                <a:solidFill>
                  <a:srgbClr val="FFFFFF"/>
                </a:solidFill>
                <a:latin typeface="Montserrat"/>
              </a:rPr>
              <a:t>docker compose -f deploy/fsp/compose.yaml up --build
Кабинеты: http://127.0.0.1:8000
OpenAPI: /docs, схема в product/openapi.json
На хосте только Docker Engine и плагин Compose. PRODUCT_SECRET не короче 32 символов в deploy/fsp/compose.env.
Прогон валидации — ссылка в подборке работодателя, один раз после четырёх шагов демо.</a:t>
            </a:r>
          </a:p>
        </p:txBody>
      </p:sp>
    </p:spTree>
    <p:extLst>
      <p:ext uri="{BB962C8B-B14F-4D97-AF65-F5344CB8AC3E}">
        <p14:creationId xmlns:p14="http://schemas.microsoft.com/office/powerpoint/2010/main" val="119978626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E0D9EF9A-DA2D-60AC-63A9-ACD551239B10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Номер слайда 12">
            <a:extLst>
              <a:ext uri="{FF2B5EF4-FFF2-40B4-BE49-F238E27FC236}">
                <a16:creationId xmlns:a16="http://schemas.microsoft.com/office/drawing/2014/main" id="{346B550E-0CFF-4A79-B1FE-2EC1424EF8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25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89C5FEE7-8855-4287-AE2D-52539F4D5F31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 lang="ru-RU" sz="1400" dirty="0" b="1"/>
              <a:t>Регистрация и код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BB2C021-BD44-4085-92C0-42B29CA7DD4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814077"/>
            <a:ext cx="2526079" cy="1120685"/>
          </a:xfrm>
        </p:spPr>
        <p:txBody>
          <a:bodyPr/>
          <a:lstStyle/>
          <a:p>
            <a:r>
              <a:rPr lang="ru-RU" sz="1100" dirty="0"/>
              <a:t>Соискатель создаёт учётную запись с согласием. Код подтверждения показан на странице: внешней почты на стенде нет.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726F0F5-5C67-466D-943E-F4703B2F270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 lang="ru-RU" sz="1400" dirty="0" b="1"/>
              <a:t>Анкета и тест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6D4997F-BA2F-417E-957D-7B6FF608CC45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814077"/>
            <a:ext cx="2526079" cy="1120685"/>
          </a:xfrm>
        </p:spPr>
        <p:txBody>
          <a:bodyPr/>
          <a:lstStyle/>
          <a:p>
            <a:r>
              <a:rPr lang="ru-RU" sz="1100" dirty="0"/>
              <a:t>Специализация и заявленный грейд, публикация. «Начать тест записанного грейда», затем «Сдать тест». Категория складывается рядом с объяснением.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B04BBFFE-3199-451F-A356-405FEE6461C5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 lang="ru-RU" sz="1400" dirty="0" b="1"/>
              <a:t>Мок ФСП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6B529974-604C-48E2-AD6F-070B19225F48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814077"/>
            <a:ext cx="2526079" cy="1120685"/>
          </a:xfrm>
        </p:spPr>
        <p:txBody>
          <a:bodyPr/>
          <a:lstStyle/>
          <a:p>
            <a:r>
              <a:rPr lang="ru-RU" sz="1100" dirty="0"/>
              <a:t>fsp-synth-1 — несколько дисциплин и разряд строкой источника. fsp-synth-2 — пустая история без ошибки загрузки.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9C425FA5-5D8B-4070-9FEA-743FFC23DC9C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825338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 lang="ru-RU" sz="1400" dirty="0" b="1"/>
              <a:t>Приглашение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3E4BE6CF-D653-4C71-B520-8F640E846D62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5181340"/>
            <a:ext cx="2526079" cy="1120685"/>
          </a:xfrm>
        </p:spPr>
        <p:txBody>
          <a:bodyPr/>
          <a:lstStyle/>
          <a:p>
            <a:r>
              <a:rPr lang="ru-RU" sz="1100" dirty="0"/>
              <a:t>Вилка в рублях, обе границы, контакт компании сразу. sent → seen при открытии, почта — только после accepted.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7FE93D78-FBF8-4CFA-B0D4-B21070DBC331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825338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 lang="ru-RU" sz="1400" dirty="0" b="1"/>
              <a:t>Прогон валидации</a:t>
            </a: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931BD573-963A-40B6-8E80-802A897ACB26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5181340"/>
            <a:ext cx="2526079" cy="1120685"/>
          </a:xfrm>
        </p:spPr>
        <p:txBody>
          <a:bodyPr/>
          <a:lstStyle/>
          <a:p>
            <a:r>
              <a:rPr lang="ru-RU" sz="1100" dirty="0"/>
              <a:t>Один раз после четырёх шагов. Пять строк этого запуска, без выдуманных процентов.</a:t>
            </a:r>
          </a:p>
        </p:txBody>
      </p:sp>
      <p:cxnSp>
        <p:nvCxnSpPr>
          <p:cNvPr id="34" name="Прямая соединительная линия 33">
            <a:extLst>
              <a:ext uri="{FF2B5EF4-FFF2-40B4-BE49-F238E27FC236}">
                <a16:creationId xmlns:a16="http://schemas.microsoft.com/office/drawing/2014/main" id="{FED623D4-5E7E-44FB-A655-80D9166ACECF}"/>
              </a:ext>
            </a:extLst>
          </p:cNvPr>
          <p:cNvCxnSpPr>
            <a:cxnSpLocks/>
          </p:cNvCxnSpPr>
          <p:nvPr/>
        </p:nvCxnSpPr>
        <p:spPr>
          <a:xfrm>
            <a:off x="2065940" y="3860224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Прямая соединительная линия 34">
            <a:extLst>
              <a:ext uri="{FF2B5EF4-FFF2-40B4-BE49-F238E27FC236}">
                <a16:creationId xmlns:a16="http://schemas.microsoft.com/office/drawing/2014/main" id="{13BC568E-FCE4-46A3-933D-4F9F8325A813}"/>
              </a:ext>
            </a:extLst>
          </p:cNvPr>
          <p:cNvCxnSpPr>
            <a:cxnSpLocks/>
          </p:cNvCxnSpPr>
          <p:nvPr/>
        </p:nvCxnSpPr>
        <p:spPr>
          <a:xfrm>
            <a:off x="4312137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Прямая соединительная линия 35">
            <a:extLst>
              <a:ext uri="{FF2B5EF4-FFF2-40B4-BE49-F238E27FC236}">
                <a16:creationId xmlns:a16="http://schemas.microsoft.com/office/drawing/2014/main" id="{043ABED0-AC0F-4D92-AB29-318DAE79D38B}"/>
              </a:ext>
            </a:extLst>
          </p:cNvPr>
          <p:cNvCxnSpPr>
            <a:cxnSpLocks/>
          </p:cNvCxnSpPr>
          <p:nvPr/>
        </p:nvCxnSpPr>
        <p:spPr>
          <a:xfrm>
            <a:off x="6558334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Прямая соединительная линия 36">
            <a:extLst>
              <a:ext uri="{FF2B5EF4-FFF2-40B4-BE49-F238E27FC236}">
                <a16:creationId xmlns:a16="http://schemas.microsoft.com/office/drawing/2014/main" id="{836D684E-425A-4867-B96C-B1550D2326EC}"/>
              </a:ext>
            </a:extLst>
          </p:cNvPr>
          <p:cNvCxnSpPr>
            <a:cxnSpLocks/>
          </p:cNvCxnSpPr>
          <p:nvPr/>
        </p:nvCxnSpPr>
        <p:spPr>
          <a:xfrm>
            <a:off x="8780467" y="3862139"/>
            <a:ext cx="1332545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Прямая соединительная линия 37">
            <a:extLst>
              <a:ext uri="{FF2B5EF4-FFF2-40B4-BE49-F238E27FC236}">
                <a16:creationId xmlns:a16="http://schemas.microsoft.com/office/drawing/2014/main" id="{81B30F67-B043-4D47-8D41-EA47E7D98286}"/>
              </a:ext>
            </a:extLst>
          </p:cNvPr>
          <p:cNvCxnSpPr>
            <a:cxnSpLocks/>
          </p:cNvCxnSpPr>
          <p:nvPr/>
        </p:nvCxnSpPr>
        <p:spPr>
          <a:xfrm>
            <a:off x="1609114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Прямая соединительная линия 38">
            <a:extLst>
              <a:ext uri="{FF2B5EF4-FFF2-40B4-BE49-F238E27FC236}">
                <a16:creationId xmlns:a16="http://schemas.microsoft.com/office/drawing/2014/main" id="{B41E618C-6887-4F78-8BEC-4C2ABC30AC44}"/>
              </a:ext>
            </a:extLst>
          </p:cNvPr>
          <p:cNvCxnSpPr>
            <a:cxnSpLocks/>
          </p:cNvCxnSpPr>
          <p:nvPr/>
        </p:nvCxnSpPr>
        <p:spPr>
          <a:xfrm>
            <a:off x="3855312" y="4216228"/>
            <a:ext cx="1245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Прямая соединительная линия 39">
            <a:extLst>
              <a:ext uri="{FF2B5EF4-FFF2-40B4-BE49-F238E27FC236}">
                <a16:creationId xmlns:a16="http://schemas.microsoft.com/office/drawing/2014/main" id="{DE971D4E-B203-4B09-93F8-D53951540777}"/>
              </a:ext>
            </a:extLst>
          </p:cNvPr>
          <p:cNvCxnSpPr>
            <a:cxnSpLocks/>
          </p:cNvCxnSpPr>
          <p:nvPr/>
        </p:nvCxnSpPr>
        <p:spPr>
          <a:xfrm>
            <a:off x="6096000" y="2934762"/>
            <a:ext cx="5509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Прямая соединительная линия 40">
            <a:extLst>
              <a:ext uri="{FF2B5EF4-FFF2-40B4-BE49-F238E27FC236}">
                <a16:creationId xmlns:a16="http://schemas.microsoft.com/office/drawing/2014/main" id="{2BF27CC0-A85F-4C49-884A-649E718F232A}"/>
              </a:ext>
            </a:extLst>
          </p:cNvPr>
          <p:cNvCxnSpPr>
            <a:cxnSpLocks/>
          </p:cNvCxnSpPr>
          <p:nvPr/>
        </p:nvCxnSpPr>
        <p:spPr>
          <a:xfrm flipH="1">
            <a:off x="8343442" y="4216228"/>
            <a:ext cx="4264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Прямая соединительная линия 41">
            <a:extLst>
              <a:ext uri="{FF2B5EF4-FFF2-40B4-BE49-F238E27FC236}">
                <a16:creationId xmlns:a16="http://schemas.microsoft.com/office/drawing/2014/main" id="{8A19CF67-915F-4390-A30E-945C95016756}"/>
              </a:ext>
            </a:extLst>
          </p:cNvPr>
          <p:cNvCxnSpPr>
            <a:cxnSpLocks/>
          </p:cNvCxnSpPr>
          <p:nvPr/>
        </p:nvCxnSpPr>
        <p:spPr>
          <a:xfrm>
            <a:off x="10593901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Скругленный прямоугольник 42">
            <a:extLst>
              <a:ext uri="{FF2B5EF4-FFF2-40B4-BE49-F238E27FC236}">
                <a16:creationId xmlns:a16="http://schemas.microsoft.com/office/drawing/2014/main" id="{4E8CC8D8-3B02-4108-71E4-BDF385E41A76}"/>
              </a:ext>
            </a:extLst>
          </p:cNvPr>
          <p:cNvSpPr/>
          <p:nvPr/>
        </p:nvSpPr>
        <p:spPr>
          <a:xfrm>
            <a:off x="1191126" y="3508049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1</a:t>
            </a:r>
          </a:p>
        </p:txBody>
      </p:sp>
      <p:sp>
        <p:nvSpPr>
          <p:cNvPr id="44" name="Скругленный прямоугольник 43">
            <a:extLst>
              <a:ext uri="{FF2B5EF4-FFF2-40B4-BE49-F238E27FC236}">
                <a16:creationId xmlns:a16="http://schemas.microsoft.com/office/drawing/2014/main" id="{219852BA-89EA-AEC0-D3BB-81E4FBB78FBF}"/>
              </a:ext>
            </a:extLst>
          </p:cNvPr>
          <p:cNvSpPr/>
          <p:nvPr/>
        </p:nvSpPr>
        <p:spPr>
          <a:xfrm>
            <a:off x="3412397" y="3506136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2</a:t>
            </a:r>
          </a:p>
        </p:txBody>
      </p:sp>
      <p:sp>
        <p:nvSpPr>
          <p:cNvPr id="45" name="Скругленный прямоугольник 44">
            <a:extLst>
              <a:ext uri="{FF2B5EF4-FFF2-40B4-BE49-F238E27FC236}">
                <a16:creationId xmlns:a16="http://schemas.microsoft.com/office/drawing/2014/main" id="{BEB80488-DBD5-60E2-7B94-2C03FD2F73EC}"/>
              </a:ext>
            </a:extLst>
          </p:cNvPr>
          <p:cNvSpPr/>
          <p:nvPr/>
        </p:nvSpPr>
        <p:spPr>
          <a:xfrm>
            <a:off x="5658594" y="3516255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3</a:t>
            </a:r>
          </a:p>
        </p:txBody>
      </p:sp>
      <p:sp>
        <p:nvSpPr>
          <p:cNvPr id="53" name="Скругленный прямоугольник 52">
            <a:extLst>
              <a:ext uri="{FF2B5EF4-FFF2-40B4-BE49-F238E27FC236}">
                <a16:creationId xmlns:a16="http://schemas.microsoft.com/office/drawing/2014/main" id="{41C3924C-4DE8-D413-3F15-F71BBA421983}"/>
              </a:ext>
            </a:extLst>
          </p:cNvPr>
          <p:cNvSpPr/>
          <p:nvPr/>
        </p:nvSpPr>
        <p:spPr>
          <a:xfrm>
            <a:off x="7889752" y="3506135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4</a:t>
            </a:r>
          </a:p>
        </p:txBody>
      </p:sp>
      <p:sp>
        <p:nvSpPr>
          <p:cNvPr id="54" name="Скругленный прямоугольник 53">
            <a:extLst>
              <a:ext uri="{FF2B5EF4-FFF2-40B4-BE49-F238E27FC236}">
                <a16:creationId xmlns:a16="http://schemas.microsoft.com/office/drawing/2014/main" id="{5040D480-3D0A-377D-EDA1-4B45E5CE44A4}"/>
              </a:ext>
            </a:extLst>
          </p:cNvPr>
          <p:cNvSpPr/>
          <p:nvPr/>
        </p:nvSpPr>
        <p:spPr>
          <a:xfrm>
            <a:off x="10113012" y="3538626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5</a:t>
            </a:r>
          </a:p>
        </p:txBody>
      </p:sp>
      <p:sp>
        <p:nvSpPr>
          <p:cNvPr id="15" name="Заголовок 13">
            <a:extLst>
              <a:ext uri="{FF2B5EF4-FFF2-40B4-BE49-F238E27FC236}">
                <a16:creationId xmlns:a16="http://schemas.microsoft.com/office/drawing/2014/main" id="{325CF155-14B8-5628-119D-7449CFD5B0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rPr lang="ru-RU" sz="2000" dirty="0" b="1"/>
              <a:t>ДЕМОНСТРАЦИЯ НА СТЕНДЕ</a:t>
            </a:r>
          </a:p>
        </p:txBody>
      </p:sp>
      <p:sp>
        <p:nvSpPr>
          <p:cNvPr id="14" name="Скругленный прямоугольник 13">
            <a:extLst>
              <a:ext uri="{FF2B5EF4-FFF2-40B4-BE49-F238E27FC236}">
                <a16:creationId xmlns:a16="http://schemas.microsoft.com/office/drawing/2014/main" id="{BD4BFEA8-37B5-92D1-855E-4FF06BA59DA3}"/>
              </a:ext>
            </a:extLst>
          </p:cNvPr>
          <p:cNvSpPr/>
          <p:nvPr/>
        </p:nvSpPr>
        <p:spPr>
          <a:xfrm>
            <a:off x="1864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6" name="Скругленный прямоугольник 15">
            <a:extLst>
              <a:ext uri="{FF2B5EF4-FFF2-40B4-BE49-F238E27FC236}">
                <a16:creationId xmlns:a16="http://schemas.microsoft.com/office/drawing/2014/main" id="{21820900-0645-FD25-E909-18D394EFF3AF}"/>
              </a:ext>
            </a:extLst>
          </p:cNvPr>
          <p:cNvSpPr/>
          <p:nvPr/>
        </p:nvSpPr>
        <p:spPr>
          <a:xfrm>
            <a:off x="46441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996865AC-684A-E392-11F5-A3160D858242}"/>
              </a:ext>
            </a:extLst>
          </p:cNvPr>
          <p:cNvSpPr/>
          <p:nvPr/>
        </p:nvSpPr>
        <p:spPr>
          <a:xfrm>
            <a:off x="91018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1557C0D9-E1EE-FF6F-28CC-F2CF230BFDBA}"/>
              </a:ext>
            </a:extLst>
          </p:cNvPr>
          <p:cNvSpPr/>
          <p:nvPr/>
        </p:nvSpPr>
        <p:spPr>
          <a:xfrm>
            <a:off x="2471878" y="4825338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BC511278-171F-4030-656D-F6DA5B6264BC}"/>
              </a:ext>
            </a:extLst>
          </p:cNvPr>
          <p:cNvSpPr/>
          <p:nvPr/>
        </p:nvSpPr>
        <p:spPr>
          <a:xfrm>
            <a:off x="6948708" y="4791290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</p:spTree>
    <p:extLst>
      <p:ext uri="{BB962C8B-B14F-4D97-AF65-F5344CB8AC3E}">
        <p14:creationId xmlns:p14="http://schemas.microsoft.com/office/powerpoint/2010/main" val="2194599202"/>
      </p:ext>
    </p:extLst>
  </p:cSld>
  <p:clrMapOvr>
    <a:masterClrMapping/>
  </p:clrMapOvr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 rtlCol="0" anchor="t"/>
      <a:lstStyle>
        <a:defPPr algn="ctr">
          <a:defRPr b="1" dirty="0" smtClean="0">
            <a:solidFill>
              <a:schemeClr val="accent2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Для Академия инноваторов 16_9" id="{1723B771-A24B-45DA-B7CE-887A7FB91DED}" vid="{FE7ADCA1-0705-4BF5-AEC5-34FB9D7ACE5C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11028</TotalTime>
  <Words>632</Words>
  <Application>Microsoft Macintosh PowerPoint</Application>
  <PresentationFormat>Широкоэкранный</PresentationFormat>
  <Paragraphs>187</Paragraphs>
  <Slides>37</Slides>
  <Notes>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37</vt:i4>
      </vt:variant>
    </vt:vector>
  </HeadingPairs>
  <TitlesOfParts>
    <vt:vector size="45" baseType="lpstr">
      <vt:lpstr>Arial</vt:lpstr>
      <vt:lpstr>Calibri</vt:lpstr>
      <vt:lpstr>Lato Light</vt:lpstr>
      <vt:lpstr>Montserrat</vt:lpstr>
      <vt:lpstr>Montserrat Medium</vt:lpstr>
      <vt:lpstr>Poppins Light</vt:lpstr>
      <vt:lpstr>Wingdings</vt:lpstr>
      <vt:lpstr>Для Академия инноваторов 16_9</vt:lpstr>
      <vt:lpstr>Презентация PowerPoint</vt:lpstr>
      <vt:lpstr>ВВОДНЫЕ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КОРОТКО О РЕШЕНИИ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Полезные материалы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Анастасия Юшкова</dc:creator>
  <cp:lastModifiedBy>Ирина</cp:lastModifiedBy>
  <cp:revision>97</cp:revision>
  <dcterms:created xsi:type="dcterms:W3CDTF">2023-05-15T07:36:23Z</dcterms:created>
  <dcterms:modified xsi:type="dcterms:W3CDTF">2026-10-02T08:27:06Z</dcterms:modified>
</cp:coreProperties>
</file>