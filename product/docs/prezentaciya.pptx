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69" r:id="rId13"/>
    <p:sldId id="372" r:id="rId14"/>
    <p:sldId id="373" r:id="rId15"/>
    <p:sldId id="370" r:id="rId16"/>
    <p:sldId id="371" r:id="rId17"/>
    <p:sldId id="374" r:id="rId18"/>
    <p:sldId id="260" r:id="rId19"/>
    <p:sldId id="261" r:id="rId20"/>
    <p:sldId id="262" r:id="rId21"/>
    <p:sldId id="263" r:id="rId22"/>
    <p:sldId id="266" r:id="rId23"/>
    <p:sldId id="267" r:id="rId2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viewProps" Target="viewProps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40" Type="http://schemas.openxmlformats.org/officeDocument/2006/relationships/handoutMaster" Target="handoutMasters/handoutMaster1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4" Type="http://schemas.openxmlformats.org/officeDocument/2006/relationships/tableStyles" Target="tableStyles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12" Type="http://schemas.openxmlformats.org/officeDocument/2006/relationships/slide" Target="slides/slide11.xml"/><Relationship Id="rId17" Type="http://schemas.openxmlformats.org/officeDocument/2006/relationships/slide" Target="slides/slide16.xml"/></Relationships>
</file>

<file path=ppt/charts/_rels/chart1.xml.rels><?xml version="1.0" encoding="UTF-8"?><Relationships xmlns="http://schemas.openxmlformats.org/package/2006/relationships"><Relationship Id="rId3" Type="http://schemas.openxmlformats.org/officeDocument/2006/relationships/package" Target="../embeddings/____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?>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Ряд 1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Лист1!$C$1</c:f>
              <c:strCache>
                <c:ptCount val="1"/>
                <c:pt idx="0">
                  <c:v>Ряд 2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2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?>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 xml:space="preserve"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3" Type="http://schemas.openxmlformats.org/officeDocument/2006/relationships/image" Target="../media/shot_logo-fsp.png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3" Type="http://schemas.openxmlformats.org/officeDocument/2006/relationships/image" Target="../media/shot_01-register.png"/><Relationship Id="rId4" Type="http://schemas.openxmlformats.org/officeDocument/2006/relationships/image" Target="../media/shot_02-confirm-code.png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3" Type="http://schemas.openxmlformats.org/officeDocument/2006/relationships/image" Target="../media/shot_05-test-card.png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shot_06-cabinet-category.png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3" Type="http://schemas.openxmlformats.org/officeDocument/2006/relationships/image" Target="../media/shot_07-fsp-card.png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Relationship Id="rId3" Type="http://schemas.openxmlformats.org/officeDocument/2006/relationships/image" Target="../media/shot_08-fsp-card.png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Relationship Id="rId3" Type="http://schemas.openxmlformats.org/officeDocument/2006/relationships/image" Target="../media/shot_10-shortlist-card.png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Relationship Id="rId3" Type="http://schemas.openxmlformats.org/officeDocument/2006/relationships/image" Target="../media/shot_12-sent-card.png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Relationship Id="rId3" Type="http://schemas.openxmlformats.org/officeDocument/2006/relationships/image" Target="../media/shot_13-offer-seen.png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3" Type="http://schemas.openxmlformats.org/officeDocument/2006/relationships/image" Target="../media/shot_15-accepted-card.png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shot_16-metrics.png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6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 xml:space="preserve">Цифровая платформа-агрегатор ИТ-вакансий </a:t>
            </a:r>
            <a:br>
              <a:rPr lang="ru-RU" dirty="0"/>
            </a:br>
            <a:r>
              <a:rPr lang="ru-RU" dirty="0"/>
              <a:t xml:space="preserve"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pic>
        <p:nvPicPr>
          <p:cNvPr id="11" name="Логотип ФСП" descr="Логотип ФСП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52160"/>
            <a:ext cx="2194560" cy="65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Категория — специализация и грейд. Тест грейд не понижает. Достижения ФСП меняют порядок внутри категории. Пустая история — не ошибка.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Капитан: </a:t>
            </a:r>
            <a:r>
              <a:rPr lang="ru-RU" dirty="0">
                <a:solidFill>
                  <a:schemeClr val="tx1"/>
                </a:solidFill>
              </a:rPr>
              <a:t>Чистяков Евгений, разработка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Кол-во участников: </a:t>
            </a:r>
            <a:r>
              <a:rPr lang="ru-RU" dirty="0">
                <a:solidFill>
                  <a:schemeClr val="tx1"/>
                </a:solidFill>
              </a:rPr>
              <a:t>5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 xml:space="preserve"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Прототип собран командой в каталоге product/.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Спецтрек ЛЦТ, Федерация спортивного программирования.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Россия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Работодатель сам находит категорию и пишет человеку с вилкой в рублях. Соискатель не откликается вслепую.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Разработка, продукт, подбор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echistyakov@aq.ru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по запросу жюри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спецтрек ЛЦТ / ФСП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Чистяков Евгений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Иван Курлыков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—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Леонид Пластуненко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—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Николай Кузнецов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—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—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Игорь Софронов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—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—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—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—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Один разработчик. Стенд и кабинеты живут в одном процессе. Боевого реестра ФСП на хакатоне нет — достижения читаются из JSON в git.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Категорию нельзя собрать из резюме. Приглашение нельзя сохранить без обеих границ вилки в рублях и контакта компании. Пустая история ФСП должна отображаться без ошибки загрузки.</a:t>
            </a:r>
            <a:r>
              <a:rPr lang="en-US" dirty="0">
                <a:solidFill>
                  <a:schemeClr val="tx1"/>
                </a:solidFill>
              </a:rPr>
              <a:t xml:space="preserve"> </a:t>
            </a:r>
            <a:r>
              <a:rPr lang="ru-RU" dirty="0">
                <a:solidFill>
                  <a:schemeClr val="tx1"/>
                </a:solidFill>
              </a:rPr>
              <a:t xml:space="preserve"> 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 xml:space="preserve"> </a:t>
            </a:r>
            <a:r>
              <a:rPr lang="en-US" dirty="0">
                <a:solidFill>
                  <a:schemeClr val="tx1"/>
                </a:solidFill>
              </a:rPr>
              <a:t xml:space="preserve">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 xml:space="preserve"> 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 xml:space="preserve"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Универсальные площадки не подтверждают грейд и не знают соревновательный профиль. ФСП даёт проверяемые результаты, а работодателю нужна категория, а не лента чужих вакансий.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 xml:space="preserve"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Монолит Python 3.12: Jinja2 и локальный htmx, FastAPI, один файл SQLite в режиме WAL. Кабинеты и API — один worker uvicorn. Запуск только командой docker compose -f deploy/fsp/compose.yaml up --build. Кабинеты: http://127.0.0.1:8000. Мок достижений — product/fsp_mock, шаблоны теста лежат в git и на проходе не переписываются.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Обратная механика: работодатель сам находит категорию и пишет человеку. Вилка в рублях видна сразу, почта соискателя — только после accepted. Отрасль MVP только it и в category_id не входит.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 xml:space="preserve"> </a:t>
            </a: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31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Регистрация с согласием</a:t>
            </a:r>
          </a:p>
        </p:txBody>
      </p:sp>
      <p:pic>
        <p:nvPicPr>
          <p:cNvPr id="32" name="Регистрация с согласием" descr="Регистрация с согласие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257550"/>
          </a:xfrm>
          <a:prstGeom prst="rect">
            <a:avLst/>
          </a:prstGeom>
        </p:spPr>
      </p:pic>
      <p:sp>
        <p:nvSpPr>
          <p:cNvPr id="33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Кабинет соискателя, живой стенд</a:t>
            </a:r>
          </a:p>
        </p:txBody>
      </p:sp>
      <p:pic>
        <p:nvPicPr>
          <p:cNvPr id="34" name="Код на странице" descr="Код на странице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794760"/>
            <a:ext cx="3803904" cy="237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endParaRPr lang="ru-RU" sz="3600" dirty="0">
              <a:solidFill>
                <a:schemeClr val="bg1"/>
              </a:solidFill>
            </a:endParaRPr>
          </a:p>
        </p:txBody>
      </p:sp>
      <p:sp>
        <p:nvSpPr>
          <p:cNvPr id="22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Анкета и тест записанного грейда</a:t>
            </a:r>
          </a:p>
        </p:txBody>
      </p:sp>
      <p:pic>
        <p:nvPicPr>
          <p:cNvPr id="23" name="Анкета и тест записанного грейда" descr="Анкета и тест записанного грейд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619500"/>
          </a:xfrm>
          <a:prstGeom prst="rect">
            <a:avLst/>
          </a:prstGeom>
        </p:spPr>
      </p:pic>
      <p:sp>
        <p:nvSpPr>
          <p:cNvPr id="24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Шаблон выбирается по profile_id, на проходе не меняется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1" y="0"/>
            <a:ext cx="6096000" cy="6857999"/>
          </a:xfrm>
        </p:spPr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Категория = специализация + грейд</a:t>
            </a:r>
          </a:p>
        </p:txBody>
      </p:sp>
      <p:pic>
        <p:nvPicPr>
          <p:cNvPr id="11" name="Категория = специализация + грейд" descr="Категория = специализация + грейд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960120"/>
            <a:ext cx="5212080" cy="3257550"/>
          </a:xfrm>
          <a:prstGeom prst="rect">
            <a:avLst/>
          </a:prstGeom>
        </p:spPr>
      </p:pic>
      <p:sp>
        <p:nvSpPr>
          <p:cNvPr id="12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Отрасль it в статусе, в category_id не входит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fsp-synth-1: несколько дисциплин</a:t>
            </a:r>
          </a:p>
        </p:txBody>
      </p:sp>
      <p:pic>
        <p:nvPicPr>
          <p:cNvPr id="23" name="fsp-synth-1: несколько дисциплин" descr="fsp-synth-1: несколько дисципли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981450"/>
          </a:xfrm>
          <a:prstGeom prst="rect">
            <a:avLst/>
          </a:prstGeom>
        </p:spPr>
      </p:pic>
      <p:sp>
        <p:nvSpPr>
          <p:cNvPr id="24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Разряд хранится строкой источника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8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fsp-synth-2: пустая история</a:t>
            </a:r>
          </a:p>
        </p:txBody>
      </p:sp>
      <p:pic>
        <p:nvPicPr>
          <p:cNvPr id="29" name="fsp-synth-2: пустая история" descr="fsp-synth-2: пустая история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619500"/>
          </a:xfrm>
          <a:prstGeom prst="rect">
            <a:avLst/>
          </a:prstGeom>
        </p:spPr>
      </p:pic>
      <p:sp>
        <p:nvSpPr>
          <p:cNvPr id="30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Кабинет не рисует ошибку загрузки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22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Подборка работодателя backend:middle</a:t>
            </a:r>
          </a:p>
        </p:txBody>
      </p:sp>
      <p:pic>
        <p:nvPicPr>
          <p:cNvPr id="23" name="Подборка работодателя backend:middle" descr="Подборка работодателя backend:midd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4343400"/>
          </a:xfrm>
          <a:prstGeom prst="rect">
            <a:avLst/>
          </a:prstGeom>
        </p:spPr>
      </p:pic>
      <p:sp>
        <p:nvSpPr>
          <p:cNvPr id="24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Выше балл, затем больше достижений ФСП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4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Приглашение: вилка RUB, контакт сразу</a:t>
            </a:r>
          </a:p>
        </p:txBody>
      </p:sp>
      <p:pic>
        <p:nvPicPr>
          <p:cNvPr id="25" name="Приглашение: вилка RUB, контакт сразу" descr="Приглашение: вилка RUB, контакт сразу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481958"/>
          </a:xfrm>
          <a:prstGeom prst="rect">
            <a:avLst/>
          </a:prstGeom>
        </p:spPr>
      </p:pic>
      <p:sp>
        <p:nvSpPr>
          <p:cNvPr id="26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Статус sent, почты соискателя нет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D2D50A4-F98A-4A5D-A666-B99022C8614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prstGeom prst="roundRect">
            <a:avLst>
              <a:gd name="adj" fmla="val 6127"/>
            </a:avLst>
          </a:prstGeo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5D0B644D-D790-48C2-BC35-EDB0C7DDBBE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prstGeom prst="roundRect">
            <a:avLst>
              <a:gd name="adj" fmla="val 11783"/>
            </a:avLst>
          </a:prstGeo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EAAC3104-3761-4B60-BF27-9DB79C3445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prstGeom prst="roundRect">
            <a:avLst>
              <a:gd name="adj" fmla="val 7254"/>
            </a:avLst>
          </a:prstGeom>
        </p:spPr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75523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1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Открытие: sent → seen</a:t>
            </a:r>
          </a:p>
        </p:txBody>
      </p:sp>
      <p:pic>
        <p:nvPicPr>
          <p:cNvPr id="12" name="Открытие: sent → seen" descr="Открытие: sent → se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257550"/>
          </a:xfrm>
          <a:prstGeom prst="rect">
            <a:avLst/>
          </a:prstGeom>
        </p:spPr>
      </p:pic>
      <p:sp>
        <p:nvSpPr>
          <p:cNvPr id="13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Способ связи компании виден сразу</a:t>
            </a:r>
          </a:p>
        </p:txBody>
      </p:sp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/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5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После accepted появляется почта</a:t>
            </a:r>
          </a:p>
        </p:txBody>
      </p:sp>
      <p:pic>
        <p:nvPicPr>
          <p:cNvPr id="26" name="После accepted появляется почта" descr="После accepted появляется почт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960120"/>
            <a:ext cx="5212080" cy="3615880"/>
          </a:xfrm>
          <a:prstGeom prst="rect">
            <a:avLst/>
          </a:prstGeom>
        </p:spPr>
      </p:pic>
      <p:sp>
        <p:nvSpPr>
          <p:cNvPr id="27" name="Caption"/>
          <p:cNvSpPr/>
          <p:nvPr/>
        </p:nvSpPr>
        <p:spPr>
          <a:xfrm>
            <a:off x="6583680" y="6355080"/>
            <a:ext cx="53035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100" dirty="0">
                <a:solidFill>
                  <a:srgbClr val="FFFFFF"/>
                </a:solidFill>
                <a:latin typeface="Montserrat"/>
              </a:rPr>
              <a:t>Почта соискателя только в этом статусе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5" name="Caption"/>
          <p:cNvSpPr/>
          <p:nvPr/>
        </p:nvSpPr>
        <p:spPr>
          <a:xfrm>
            <a:off x="6583680" y="320040"/>
            <a:ext cx="53035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Прогон валидации</a:t>
            </a:r>
          </a:p>
        </p:txBody>
      </p:sp>
      <p:pic>
        <p:nvPicPr>
          <p:cNvPr id="16" name="Метрики прогона" descr="Метрики прогон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960120"/>
            <a:ext cx="5212080" cy="2931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endParaRPr lang="ru-RU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endParaRPr lang="ru-RU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endParaRPr lang="ru-RU">
              <a:solidFill>
                <a:schemeClr val="accent5"/>
              </a:solidFill>
            </a:endParaRP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16" name="Caption"/>
          <p:cNvSpPr/>
          <p:nvPr/>
        </p:nvSpPr>
        <p:spPr>
          <a:xfrm>
            <a:off x="6583680" y="320040"/>
            <a:ext cx="530352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800" dirty="0" b="1">
                <a:solidFill>
                  <a:srgbClr val="FFFFFF"/>
                </a:solidFill>
                <a:latin typeface="Montserrat"/>
              </a:rPr>
              <a:t>Стенд одной командой</a:t>
            </a:r>
          </a:p>
        </p:txBody>
      </p:sp>
      <p:sp>
        <p:nvSpPr>
          <p:cNvPr id="17" name="Caption"/>
          <p:cNvSpPr/>
          <p:nvPr/>
        </p:nvSpPr>
        <p:spPr>
          <a:xfrm>
            <a:off x="6583680" y="1097280"/>
            <a:ext cx="5303520" cy="5120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lang="ru-RU" sz="1400" dirty="0">
                <a:solidFill>
                  <a:srgbClr val="FFFFFF"/>
                </a:solidFill>
                <a:latin typeface="Montserrat"/>
              </a:rPr>
              <a:t>docker compose -f deploy/fsp/compose.yaml up --build
Кабинеты: http://127.0.0.1:8000
OpenAPI: /docs, схема в product/openapi.json
На хосте только Docker Engine и плагин Compose. PRODUCT_SECRET не короче 32 символов в deploy/fsp/compose.env.
Прогон валидации — ссылка в подборке работодателя, один раз после четырёх шагов демо.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dirty="0" b="1"/>
              <a:t>Регистрация и код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rPr lang="ru-RU" sz="1100" dirty="0"/>
              <a:t>Соискатель создаёт учётную запись с согласием. Код подтверждения показан на странице: внешней почты на стенде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dirty="0" b="1"/>
              <a:t>Анкета и тест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rPr lang="ru-RU" sz="1100" dirty="0"/>
              <a:t>Специализация и заявленный грейд, публикация. «Начать тест записанного грейда», затем «Сдать тест». Категория складывается рядом с объяснением.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dirty="0" b="1"/>
              <a:t>Мок ФСП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rPr lang="ru-RU" sz="1100" dirty="0"/>
              <a:t>fsp-synth-1 — несколько дисциплин и разряд строкой источника. fsp-synth-2 — пустая история без ошибки загрузки.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dirty="0" b="1"/>
              <a:t>Приглашение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rPr lang="ru-RU" sz="1100" dirty="0"/>
              <a:t>Вилка в рублях, обе границы, контакт компании сразу. sent → seen при открытии, почта — только после accepted.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lang="ru-RU" sz="1400" dirty="0" b="1"/>
              <a:t>Прогон валидации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rPr lang="ru-RU" sz="1100" dirty="0"/>
              <a:t>Один раз после четырёх шагов. Пять строк этого запуска, без выдуманных процентов.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lang="ru-RU" sz="2000" dirty="0" b="1"/>
              <a:t>ДЕМОНСТРАЦИЯ НА СТЕНДЕ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